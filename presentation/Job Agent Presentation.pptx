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yourself. One sentence: this is an AI agent that automates the repetitive 95% of job applications, and the demo is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in the room has felt this. The point: none of these steps require human judgment except deciding to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in one line. Emphasize the last box: the human only does the final click — by design, not as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app now: Job Agent.command must be running. Show these four things in order, then come back to the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results. Point at the match score, the plain-language reasons, and Israeli company jobs (Cato, Via, Similarweb) pulled directly from career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prepared application: tailored PDF resume, cover letter, and copy buttons for every form answer. Note the fact-checked line in the header.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in, one engine. The tool registry is the key design move: every capability is defined once and callable by code or by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principle: no orchestrator agent. The flow is plain code; the LLM is used only at the four points that need judgment. Each AI step can fail and the pipeline still completes.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 tool literally is: a JSON schema plus the Python function. Same registry serves the fixed pipeline and the LLM. Tools return summaries, not dumps.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classic tool-calling loop with a real trace from this system: three tool calls, then a plain answer. This is the 'agent' in Job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narrow prompts instead of one giant one. Each has one job and its own guardrail. Green = the quality-control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multi-agent quality gate. Tell the story: we planted a fake PhD and the wrong company — the reviewer caught all five issues and the repair pass came back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Safety by construction: grounded generation, a second AI pass on everything, verified discovery, and a hard rule — the software cannot click Submit.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form-filler agent drives the user's own Chrome via Playwright. Deterministic code fills standard fields; the LLM answers open questions; it always stops before Submit.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Coverage: 9 keyless boards plus the country layer — 109 verified company boards shipped, and AI discovery (verified, cached) for any other country.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Language follows the posting, not the profile. Hebrew needed real bidi work — and Hebrew quote marks even broke the model's JSON until we added a repair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codebase, one flag. Desktop has the machine-bound powers; the hosted version is stateless — each visitor's data lives in their own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technical story with scale and rigor: parallel preparation, five AI calls per application including the fact-check, and a 21-check automated E2E in both modes.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 If asked about code: github.com/DavidZeff1/agent — the README documents the architecture and design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FINAL PROJECT · AI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1" i="0">
                <a:solidFill>
                  <a:srgbClr val="16203A"/>
                </a:solidFill>
                <a:latin typeface="Arial"/>
              </a:rPr>
              <a:t>Job </a:t>
            </a:r>
            <a:r>
              <a:rPr sz="8000" b="1" i="0">
                <a:solidFill>
                  <a:srgbClr val="3B5BDB"/>
                </a:solidFill>
                <a:latin typeface="Arial"/>
              </a:rPr>
              <a:t>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5661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16203A"/>
                </a:solidFill>
                <a:latin typeface="Arial"/>
              </a:rPr>
              <a:t>An AI agent that does the boring 95% of job hunting —
and leaves the final </a:t>
            </a:r>
            <a:r>
              <a:rPr sz="2600" b="1" i="0">
                <a:solidFill>
                  <a:srgbClr val="16203A"/>
                </a:solidFill>
                <a:latin typeface="Arial"/>
              </a:rPr>
              <a:t>Submit</a:t>
            </a:r>
            <a:r>
              <a:rPr sz="2600" b="0" i="0">
                <a:solidFill>
                  <a:srgbClr val="16203A"/>
                </a:solidFill>
                <a:latin typeface="Arial"/>
              </a:rPr>
              <a:t> click to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6478"/>
                </a:solidFill>
                <a:latin typeface="Arial"/>
              </a:rPr>
              <a:t>David Zeff  ·  Python + Flask + Groq LLM  ·  live demo included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01 ·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6203A"/>
                </a:solidFill>
                <a:latin typeface="Arial"/>
              </a:rPr>
              <a:t>Applying to jobs is the same hour,
</a:t>
            </a:r>
            <a:r>
              <a:rPr sz="4000" b="1" i="0">
                <a:solidFill>
                  <a:srgbClr val="3B5BDB"/>
                </a:solidFill>
                <a:latin typeface="Arial"/>
              </a:rPr>
              <a:t>again and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34640"/>
            <a:ext cx="106070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Search five job boards, one by one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Re-type your details into every form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Tailor the resume — for every single job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Write yet another cover letter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Answer the same 20 questions every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02 · 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Tell it about yourself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once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Profile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entered once, stored locally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87752" y="285292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8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Search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10 job sources at once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28032" y="285292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636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Rank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scored against your profile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68312" y="285292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0664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Write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tailored resume + letter, fact-checked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08592" y="285292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4692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You submit</a:t>
            </a:r>
          </a:p>
          <a:p>
            <a:pPr algn="ctr"/>
            <a:r>
              <a:rPr sz="1200" b="0" i="0">
                <a:solidFill>
                  <a:srgbClr val="B9C2D8"/>
                </a:solidFill>
                <a:latin typeface="Arial"/>
              </a:rPr>
              <a:t>the only manual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6203A"/>
                </a:solidFill>
                <a:latin typeface="Arial"/>
              </a:rPr>
              <a:t>It even fills the employer's real application form — then stops and waits for you.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03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80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600" b="1" i="0">
                <a:solidFill>
                  <a:srgbClr val="16203A"/>
                </a:solidFill>
                <a:latin typeface="Arial"/>
              </a:rPr>
              <a:t>Live </a:t>
            </a:r>
            <a:r>
              <a:rPr sz="7600" b="1" i="0">
                <a:solidFill>
                  <a:srgbClr val="3B5BDB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10896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b="1" i="0">
                <a:solidFill>
                  <a:srgbClr val="14804A"/>
                </a:solidFill>
                <a:latin typeface="Arial"/>
              </a:rPr>
              <a:t>1  </a:t>
            </a:r>
            <a:r>
              <a:rPr sz="2700" b="0" i="0">
                <a:solidFill>
                  <a:srgbClr val="16203A"/>
                </a:solidFill>
                <a:latin typeface="Arial"/>
              </a:rPr>
              <a:t>  Profile — dropdowns, GitHub import</a:t>
            </a:r>
          </a:p>
          <a:p>
            <a:pPr>
              <a:spcAft>
                <a:spcPts val="1200"/>
              </a:spcAft>
            </a:pPr>
            <a:r>
              <a:rPr sz="2700" b="1" i="0">
                <a:solidFill>
                  <a:srgbClr val="14804A"/>
                </a:solidFill>
                <a:latin typeface="Arial"/>
              </a:rPr>
              <a:t>2  </a:t>
            </a:r>
            <a:r>
              <a:rPr sz="2700" b="0" i="0">
                <a:solidFill>
                  <a:srgbClr val="16203A"/>
                </a:solidFill>
                <a:latin typeface="Arial"/>
              </a:rPr>
              <a:t>  Find jobs — ranked, with reasons</a:t>
            </a:r>
          </a:p>
          <a:p>
            <a:pPr>
              <a:spcAft>
                <a:spcPts val="1200"/>
              </a:spcAft>
            </a:pPr>
            <a:r>
              <a:rPr sz="2700" b="1" i="0">
                <a:solidFill>
                  <a:srgbClr val="14804A"/>
                </a:solidFill>
                <a:latin typeface="Arial"/>
              </a:rPr>
              <a:t>3  </a:t>
            </a:r>
            <a:r>
              <a:rPr sz="2700" b="0" i="0">
                <a:solidFill>
                  <a:srgbClr val="16203A"/>
                </a:solidFill>
                <a:latin typeface="Arial"/>
              </a:rPr>
              <a:t>  Prepare — watch the AI work</a:t>
            </a:r>
          </a:p>
          <a:p>
            <a:pPr>
              <a:spcAft>
                <a:spcPts val="1200"/>
              </a:spcAft>
            </a:pPr>
            <a:r>
              <a:rPr sz="2700" b="1" i="0">
                <a:solidFill>
                  <a:srgbClr val="14804A"/>
                </a:solidFill>
                <a:latin typeface="Arial"/>
              </a:rPr>
              <a:t>4  </a:t>
            </a:r>
            <a:r>
              <a:rPr sz="2700" b="0" i="0">
                <a:solidFill>
                  <a:srgbClr val="16203A"/>
                </a:solidFill>
                <a:latin typeface="Arial"/>
              </a:rPr>
              <a:t>  Auto-fill a real application 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03 · DEMO — FINDING JOBS</a:t>
            </a:r>
          </a:p>
        </p:txBody>
      </p:sp>
      <p:pic>
        <p:nvPicPr>
          <p:cNvPr id="3" name="Picture 2" descr="pres-fi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235" y="914400"/>
            <a:ext cx="7349224" cy="4937760"/>
          </a:xfrm>
          <a:prstGeom prst="rect">
            <a:avLst/>
          </a:prstGeom>
          <a:ln w="19050">
            <a:solidFill>
              <a:srgbClr val="D8DDE8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85800" y="60807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Every job gets a match score and a plain-language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why</a:t>
            </a:r>
            <a:r>
              <a:rPr sz="1600" b="0" i="0">
                <a:solidFill>
                  <a:srgbClr val="5A6478"/>
                </a:solidFill>
                <a:latin typeface="Arial"/>
              </a:rPr>
              <a:t> — including jobs straight from Israeli company career pages.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03 · DEMO — A PREPARED APPLICATION</a:t>
            </a:r>
          </a:p>
        </p:txBody>
      </p:sp>
      <p:pic>
        <p:nvPicPr>
          <p:cNvPr id="3" name="Picture 2" descr="pres-det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235" y="914400"/>
            <a:ext cx="7349224" cy="4937760"/>
          </a:xfrm>
          <a:prstGeom prst="rect">
            <a:avLst/>
          </a:prstGeom>
          <a:ln w="19050">
            <a:solidFill>
              <a:srgbClr val="D8DDE8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85800" y="60807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Tailored resume (PDF), cover letter, and every form answer with a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Copy</a:t>
            </a:r>
            <a:r>
              <a:rPr sz="1600" b="0" i="0">
                <a:solidFill>
                  <a:srgbClr val="5A6478"/>
                </a:solidFill>
                <a:latin typeface="Arial"/>
              </a:rPr>
              <a:t> button — fact-checked before you see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04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6203A"/>
                </a:solidFill>
                <a:latin typeface="Arial"/>
              </a:rPr>
              <a:t>Three interfaces, </a:t>
            </a:r>
            <a:r>
              <a:rPr sz="3600" b="1" i="0">
                <a:solidFill>
                  <a:srgbClr val="3B5BDB"/>
                </a:solidFill>
                <a:latin typeface="Arial"/>
              </a:rPr>
              <a:t>one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2290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16203A"/>
                </a:solidFill>
                <a:latin typeface="Arial"/>
              </a:rPr>
              <a:t>Web app</a:t>
            </a:r>
          </a:p>
          <a:p>
            <a:pPr algn="ctr"/>
            <a:r>
              <a:rPr sz="1100" b="0" i="0">
                <a:solidFill>
                  <a:srgbClr val="5A6478"/>
                </a:solidFill>
                <a:latin typeface="Arial"/>
              </a:rPr>
              <a:t>for humans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3024" y="1600200"/>
            <a:ext cx="342290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16203A"/>
                </a:solidFill>
                <a:latin typeface="Arial"/>
              </a:rPr>
              <a:t>CLI</a:t>
            </a:r>
          </a:p>
          <a:p>
            <a:pPr algn="ctr"/>
            <a:r>
              <a:rPr sz="1100" b="0" i="0">
                <a:solidFill>
                  <a:srgbClr val="5A6478"/>
                </a:solidFill>
                <a:latin typeface="Arial"/>
              </a:rPr>
              <a:t>for scripts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80248" y="1600200"/>
            <a:ext cx="342290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16203A"/>
                </a:solidFill>
                <a:latin typeface="Arial"/>
              </a:rPr>
              <a:t>"Find me python jobs"</a:t>
            </a:r>
          </a:p>
          <a:p>
            <a:pPr algn="ctr"/>
            <a:r>
              <a:rPr sz="1100" b="0" i="0">
                <a:solidFill>
                  <a:srgbClr val="5A6478"/>
                </a:solidFill>
                <a:latin typeface="Arial"/>
              </a:rPr>
              <a:t>natural-language agent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6975" y="2496312"/>
            <a:ext cx="237744" cy="274320"/>
          </a:xfrm>
          <a:prstGeom prst="down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825496"/>
            <a:ext cx="10817352" cy="77724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Flask API + Tool Registry</a:t>
            </a:r>
          </a:p>
          <a:p>
            <a:pPr algn="ctr"/>
            <a:r>
              <a:rPr sz="1200" b="0" i="0">
                <a:solidFill>
                  <a:srgbClr val="B9C2D8"/>
                </a:solidFill>
                <a:latin typeface="Arial"/>
              </a:rPr>
              <a:t>every capability defined once, callable by code or by the LLM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76975" y="3657600"/>
            <a:ext cx="237744" cy="274320"/>
          </a:xfrm>
          <a:prstGeom prst="down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3986784"/>
            <a:ext cx="2002536" cy="77724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 i="0">
                <a:solidFill>
                  <a:srgbClr val="16203A"/>
                </a:solidFill>
                <a:latin typeface="Arial"/>
              </a:rPr>
              <a:t>scraper</a:t>
            </a:r>
          </a:p>
          <a:p>
            <a:pPr algn="ctr"/>
            <a:r>
              <a:rPr sz="1000" b="0" i="0">
                <a:solidFill>
                  <a:srgbClr val="5A6478"/>
                </a:solidFill>
                <a:latin typeface="Arial"/>
              </a:rPr>
              <a:t>10 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9504" y="3986784"/>
            <a:ext cx="2002536" cy="77724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 i="0">
                <a:solidFill>
                  <a:srgbClr val="16203A"/>
                </a:solidFill>
                <a:latin typeface="Arial"/>
              </a:rPr>
              <a:t>matching</a:t>
            </a:r>
          </a:p>
          <a:p>
            <a:pPr algn="ctr"/>
            <a:r>
              <a:rPr sz="1000" b="0" i="0">
                <a:solidFill>
                  <a:srgbClr val="5A6478"/>
                </a:solidFill>
                <a:latin typeface="Arial"/>
              </a:rPr>
              <a:t>score + rank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3208" y="3986784"/>
            <a:ext cx="2002536" cy="77724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 i="0">
                <a:solidFill>
                  <a:srgbClr val="16203A"/>
                </a:solidFill>
                <a:latin typeface="Arial"/>
              </a:rPr>
              <a:t>generate</a:t>
            </a:r>
          </a:p>
          <a:p>
            <a:pPr algn="ctr"/>
            <a:r>
              <a:rPr sz="1000" b="0" i="0">
                <a:solidFill>
                  <a:srgbClr val="5A6478"/>
                </a:solidFill>
                <a:latin typeface="Arial"/>
              </a:rPr>
              <a:t>resume · letter ·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96912" y="3986784"/>
            <a:ext cx="2002536" cy="77724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 i="0">
                <a:solidFill>
                  <a:srgbClr val="16203A"/>
                </a:solidFill>
                <a:latin typeface="Arial"/>
              </a:rPr>
              <a:t>autofill</a:t>
            </a:r>
          </a:p>
          <a:p>
            <a:pPr algn="ctr"/>
            <a:r>
              <a:rPr sz="1000" b="0" i="0">
                <a:solidFill>
                  <a:srgbClr val="5A6478"/>
                </a:solidFill>
                <a:latin typeface="Arial"/>
              </a:rPr>
              <a:t>real forms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0616" y="3986784"/>
            <a:ext cx="2002536" cy="77724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 i="0">
                <a:solidFill>
                  <a:srgbClr val="16203A"/>
                </a:solidFill>
                <a:latin typeface="Arial"/>
              </a:rPr>
              <a:t>tracker</a:t>
            </a:r>
          </a:p>
          <a:p>
            <a:pPr algn="ctr"/>
            <a:r>
              <a:rPr sz="1000" b="0" i="0">
                <a:solidFill>
                  <a:srgbClr val="5A6478"/>
                </a:solidFill>
                <a:latin typeface="Arial"/>
              </a:rPr>
              <a:t>what you've seen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76975" y="4818888"/>
            <a:ext cx="237744" cy="274320"/>
          </a:xfrm>
          <a:prstGeom prst="down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5148072"/>
            <a:ext cx="253288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 i="0">
                <a:solidFill>
                  <a:srgbClr val="16203A"/>
                </a:solidFill>
                <a:latin typeface="Arial"/>
              </a:rPr>
              <a:t>Job board APIs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47288" y="5148072"/>
            <a:ext cx="253288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 i="0">
                <a:solidFill>
                  <a:srgbClr val="16203A"/>
                </a:solidFill>
                <a:latin typeface="Arial"/>
              </a:rPr>
              <a:t>Company career APIs</a:t>
            </a:r>
          </a:p>
          <a:p>
            <a:pPr algn="ctr"/>
            <a:r>
              <a:rPr sz="1000" b="0" i="0">
                <a:solidFill>
                  <a:srgbClr val="5A6478"/>
                </a:solidFill>
                <a:latin typeface="Arial"/>
              </a:rPr>
              <a:t>Greenhouse · Lever · Ashby · SmartRecruiters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5148072"/>
            <a:ext cx="253288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 i="0">
                <a:solidFill>
                  <a:srgbClr val="16203A"/>
                </a:solidFill>
                <a:latin typeface="Arial"/>
              </a:rPr>
              <a:t>Groq LLM</a:t>
            </a:r>
          </a:p>
          <a:p>
            <a:pPr algn="ctr"/>
            <a:r>
              <a:rPr sz="1000" b="0" i="0">
                <a:solidFill>
                  <a:srgbClr val="5A6478"/>
                </a:solidFill>
                <a:latin typeface="Arial"/>
              </a:rPr>
              <a:t>llama-3.3-70b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4" y="5148072"/>
            <a:ext cx="253288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400" b="1" i="0">
                <a:solidFill>
                  <a:srgbClr val="16203A"/>
                </a:solidFill>
                <a:latin typeface="Arial"/>
              </a:rPr>
              <a:t>Your Chrome</a:t>
            </a:r>
          </a:p>
          <a:p>
            <a:pPr algn="ctr"/>
            <a:r>
              <a:rPr sz="1000" b="0" i="0">
                <a:solidFill>
                  <a:srgbClr val="5A6478"/>
                </a:solidFill>
                <a:latin typeface="Arial"/>
              </a:rPr>
              <a:t>PDFs + autofill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04 · ARCHITECTURE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Deterministic pipeline.
</a:t>
            </a:r>
            <a:r>
              <a:rPr sz="3400" b="1" i="0">
                <a:solidFill>
                  <a:srgbClr val="3B5BDB"/>
                </a:solidFill>
                <a:latin typeface="Arial"/>
              </a:rPr>
              <a:t>AI only where judgment is needed.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Search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plain code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87752" y="30586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8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Rank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JUDGE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28032" y="30586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636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Write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WRITER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68312" y="30586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0664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Review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CRITIC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08592" y="30586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4692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Files &amp; tracking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plain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9768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16203A"/>
                </a:solidFill>
                <a:latin typeface="Arial"/>
              </a:rPr>
              <a:t>No “orchestrator agent” deciding what to do next: the flow is code, so it never gets lost and never burns tokens on planning — and every AI step can fail </a:t>
            </a:r>
            <a:r>
              <a:rPr sz="2100" b="1" i="0">
                <a:solidFill>
                  <a:srgbClr val="16203A"/>
                </a:solidFill>
                <a:latin typeface="Arial"/>
              </a:rPr>
              <a:t>without breaking the pipeline</a:t>
            </a:r>
            <a:r>
              <a:rPr sz="2100" b="0" i="0">
                <a:solidFill>
                  <a:srgbClr val="16203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05 · AGENTS &amp;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A tool = a function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the model may call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852160" cy="402336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146304" bIns="146304"/>
          <a:lstStyle/>
          <a:p>
            <a:pPr algn="ctr"/>
            <a:r>
              <a:rPr sz="1500" b="0" i="0">
                <a:solidFill>
                  <a:srgbClr val="E8ECF7"/>
                </a:solidFill>
                <a:latin typeface="Courier New"/>
              </a:rPr>
              <a:t>{ </a:t>
            </a:r>
            <a:r>
              <a:rPr sz="1500" b="0" i="0">
                <a:solidFill>
                  <a:srgbClr val="7EA8FF"/>
                </a:solidFill>
                <a:latin typeface="Courier New"/>
              </a:rPr>
              <a:t>"name"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: </a:t>
            </a:r>
            <a:r>
              <a:rPr sz="1500" b="0" i="0">
                <a:solidFill>
                  <a:srgbClr val="5ED598"/>
                </a:solidFill>
                <a:latin typeface="Courier New"/>
              </a:rPr>
              <a:t>"search_jobs"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,</a:t>
            </a:r>
          </a:p>
          <a:p>
            <a:r>
              <a:rPr sz="1500" b="0" i="0">
                <a:solidFill>
                  <a:srgbClr val="7EA8FF"/>
                </a:solidFill>
                <a:latin typeface="Courier New"/>
              </a:rPr>
              <a:t>  "description"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: </a:t>
            </a:r>
            <a:r>
              <a:rPr sz="1500" b="0" i="0">
                <a:solidFill>
                  <a:srgbClr val="5ED598"/>
                </a:solidFill>
                <a:latin typeface="Courier New"/>
              </a:rPr>
              <a:t>"Search job</a:t>
            </a:r>
          </a:p>
          <a:p>
            <a:r>
              <a:rPr sz="1500" b="0" i="0">
                <a:solidFill>
                  <a:srgbClr val="5ED598"/>
                </a:solidFill>
                <a:latin typeface="Courier New"/>
              </a:rPr>
              <a:t>     boards. Returns count</a:t>
            </a:r>
          </a:p>
          <a:p>
            <a:r>
              <a:rPr sz="1500" b="0" i="0">
                <a:solidFill>
                  <a:srgbClr val="5ED598"/>
                </a:solidFill>
                <a:latin typeface="Courier New"/>
              </a:rPr>
              <a:t>     and sample titles."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,</a:t>
            </a:r>
          </a:p>
          <a:p>
            <a:r>
              <a:rPr sz="1500" b="0" i="0">
                <a:solidFill>
                  <a:srgbClr val="7EA8FF"/>
                </a:solidFill>
                <a:latin typeface="Courier New"/>
              </a:rPr>
              <a:t>  "parameters"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: {</a:t>
            </a:r>
          </a:p>
          <a:p>
            <a:r>
              <a:rPr sz="1500" b="0" i="0">
                <a:solidFill>
                  <a:srgbClr val="7EA8FF"/>
                </a:solidFill>
                <a:latin typeface="Courier New"/>
              </a:rPr>
              <a:t>    "keywords"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: </a:t>
            </a:r>
            <a:r>
              <a:rPr sz="1500" b="0" i="0">
                <a:solidFill>
                  <a:srgbClr val="5ED598"/>
                </a:solidFill>
                <a:latin typeface="Courier New"/>
              </a:rPr>
              <a:t>array of string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,</a:t>
            </a:r>
          </a:p>
          <a:p>
            <a:r>
              <a:rPr sz="1500" b="0" i="0">
                <a:solidFill>
                  <a:srgbClr val="7EA8FF"/>
                </a:solidFill>
                <a:latin typeface="Courier New"/>
              </a:rPr>
              <a:t>    "remote"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:   </a:t>
            </a:r>
            <a:r>
              <a:rPr sz="1500" b="0" i="0">
                <a:solidFill>
                  <a:srgbClr val="5ED598"/>
                </a:solidFill>
                <a:latin typeface="Courier New"/>
              </a:rPr>
              <a:t>boolean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,</a:t>
            </a:r>
          </a:p>
          <a:p>
            <a:r>
              <a:rPr sz="1500" b="0" i="0">
                <a:solidFill>
                  <a:srgbClr val="7EA8FF"/>
                </a:solidFill>
                <a:latin typeface="Courier New"/>
              </a:rPr>
              <a:t>    "limit"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:    </a:t>
            </a:r>
            <a:r>
              <a:rPr sz="1500" b="0" i="0">
                <a:solidFill>
                  <a:srgbClr val="5ED598"/>
                </a:solidFill>
                <a:latin typeface="Courier New"/>
              </a:rPr>
              <a:t>integer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 } }</a:t>
            </a:r>
          </a:p>
          <a:p>
            <a:r>
              <a:rPr sz="15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r>
              <a:rPr sz="1500" b="0" i="0">
                <a:solidFill>
                  <a:srgbClr val="8FA0C7"/>
                </a:solidFill>
                <a:latin typeface="Courier New"/>
              </a:rPr>
              <a:t># + the Python function</a:t>
            </a:r>
          </a:p>
          <a:p>
            <a:r>
              <a:rPr sz="1500" b="0" i="0">
                <a:solidFill>
                  <a:srgbClr val="8FA0C7"/>
                </a:solidFill>
                <a:latin typeface="Courier New"/>
              </a:rPr>
              <a:t>#   that actually runs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2860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6 tools: search, rank, list, generate, answer, profile</a:t>
            </a:r>
          </a:p>
          <a:p>
            <a:pPr>
              <a:spcAft>
                <a:spcPts val="16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One registry,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two callers</a:t>
            </a:r>
            <a:r>
              <a:rPr sz="2000" b="0" i="0">
                <a:solidFill>
                  <a:srgbClr val="16203A"/>
                </a:solidFill>
                <a:latin typeface="Arial"/>
              </a:rPr>
              <a:t>: the fixed pipeline — and the LLM itself</a:t>
            </a:r>
          </a:p>
          <a:p>
            <a:pPr>
              <a:spcAft>
                <a:spcPts val="16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Tools return short summaries, not raw data — keeps the model focused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05 · AGENTS &amp; TOOLS —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6203A"/>
                </a:solidFill>
                <a:latin typeface="Arial"/>
              </a:rPr>
              <a:t>The agent loop, </a:t>
            </a:r>
            <a:r>
              <a:rPr sz="3600" b="1" i="0">
                <a:solidFill>
                  <a:srgbClr val="3B5BDB"/>
                </a:solidFill>
                <a:latin typeface="Arial"/>
              </a:rPr>
              <a:t>for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48463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1 · User asks in plain language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999231"/>
            <a:ext cx="4846320" cy="86868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2 · LLM sees the tool schemas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picks a tool + arguments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4032502"/>
            <a:ext cx="48463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3 · We run the real function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result goes back as 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065773"/>
            <a:ext cx="4846320" cy="86868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4 · Repeat until it can answer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965960"/>
            <a:ext cx="5577840" cy="411480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146304" bIns="146304"/>
          <a:lstStyle/>
          <a:p>
            <a:pPr algn="ctr"/>
            <a:r>
              <a:rPr sz="1400" b="0" i="0">
                <a:solidFill>
                  <a:srgbClr val="8FA0C7"/>
                </a:solidFill>
                <a:latin typeface="Courier New"/>
              </a:rPr>
              <a:t># actual run:</a:t>
            </a:r>
          </a:p>
          <a:p>
            <a:r>
              <a:rPr sz="1400" b="0" i="0">
                <a:solidFill>
                  <a:srgbClr val="E8ECF7"/>
                </a:solidFill>
                <a:latin typeface="Courier New"/>
              </a:rPr>
              <a:t>$ agent </a:t>
            </a:r>
            <a:r>
              <a:rPr sz="1400" b="0" i="0">
                <a:solidFill>
                  <a:srgbClr val="5ED598"/>
                </a:solidFill>
                <a:latin typeface="Courier New"/>
              </a:rPr>
              <a:t>"find remote python jobs,</a:t>
            </a:r>
          </a:p>
          <a:p>
            <a:r>
              <a:rPr sz="1400" b="0" i="0">
                <a:solidFill>
                  <a:srgbClr val="5ED598"/>
                </a:solidFill>
                <a:latin typeface="Courier New"/>
              </a:rPr>
              <a:t>         show top 3, don't apply"</a:t>
            </a:r>
          </a:p>
          <a:p>
            <a:r>
              <a:rPr sz="14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8ECF7"/>
                </a:solidFill>
                <a:latin typeface="Courier New"/>
              </a:rPr>
              <a:t>→ tool: </a:t>
            </a:r>
            <a:r>
              <a:rPr sz="1400" b="0" i="0">
                <a:solidFill>
                  <a:srgbClr val="7EA8FF"/>
                </a:solidFill>
                <a:latin typeface="Courier New"/>
              </a:rPr>
              <a:t>search_jobs</a:t>
            </a:r>
            <a:r>
              <a:rPr sz="1400" b="0" i="0">
                <a:solidFill>
                  <a:srgbClr val="E8ECF7"/>
                </a:solidFill>
                <a:latin typeface="Courier New"/>
              </a:rPr>
              <a:t>({"keywords":</a:t>
            </a:r>
          </a:p>
          <a:p>
            <a:r>
              <a:rPr sz="1400" b="0" i="0">
                <a:solidFill>
                  <a:srgbClr val="E8ECF7"/>
                </a:solidFill>
                <a:latin typeface="Courier New"/>
              </a:rPr>
              <a:t>        ["python"],"remote":true})</a:t>
            </a:r>
          </a:p>
          <a:p>
            <a:r>
              <a:rPr sz="1400" b="0" i="0">
                <a:solidFill>
                  <a:srgbClr val="8FA0C7"/>
                </a:solidFill>
                <a:latin typeface="Courier New"/>
              </a:rPr>
              <a:t>   {"found": 14, ...}</a:t>
            </a:r>
          </a:p>
          <a:p>
            <a:r>
              <a:rPr sz="1400" b="0" i="0">
                <a:solidFill>
                  <a:srgbClr val="E8ECF7"/>
                </a:solidFill>
                <a:latin typeface="Courier New"/>
              </a:rPr>
              <a:t>→ tool: </a:t>
            </a:r>
            <a:r>
              <a:rPr sz="1400" b="0" i="0">
                <a:solidFill>
                  <a:srgbClr val="7EA8FF"/>
                </a:solidFill>
                <a:latin typeface="Courier New"/>
              </a:rPr>
              <a:t>rank_jobs</a:t>
            </a:r>
            <a:r>
              <a:rPr sz="1400" b="0" i="0">
                <a:solidFill>
                  <a:srgbClr val="E8ECF7"/>
                </a:solidFill>
                <a:latin typeface="Courier New"/>
              </a:rPr>
              <a:t>({"top": 3})</a:t>
            </a:r>
          </a:p>
          <a:p>
            <a:r>
              <a:rPr sz="1400" b="0" i="0">
                <a:solidFill>
                  <a:srgbClr val="8FA0C7"/>
                </a:solidFill>
                <a:latin typeface="Courier New"/>
              </a:rPr>
              <a:t>   {"ranked": 14, ...}</a:t>
            </a:r>
          </a:p>
          <a:p>
            <a:r>
              <a:rPr sz="1400" b="0" i="0">
                <a:solidFill>
                  <a:srgbClr val="E8ECF7"/>
                </a:solidFill>
                <a:latin typeface="Courier New"/>
              </a:rPr>
              <a:t>→ tool: </a:t>
            </a:r>
            <a:r>
              <a:rPr sz="1400" b="0" i="0">
                <a:solidFill>
                  <a:srgbClr val="7EA8FF"/>
                </a:solidFill>
                <a:latin typeface="Courier New"/>
              </a:rPr>
              <a:t>list_ranked</a:t>
            </a:r>
            <a:r>
              <a:rPr sz="1400" b="0" i="0">
                <a:solidFill>
                  <a:srgbClr val="E8ECF7"/>
                </a:solidFill>
                <a:latin typeface="Courier New"/>
              </a:rPr>
              <a:t>({"top": 3})</a:t>
            </a:r>
          </a:p>
          <a:p>
            <a:r>
              <a:rPr sz="14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5ED598"/>
                </a:solidFill>
                <a:latin typeface="Courier New"/>
              </a:rPr>
              <a:t>"Your top 3 matches are: …"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06 · THE AI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6203A"/>
                </a:solidFill>
                <a:latin typeface="Arial"/>
              </a:rPr>
              <a:t>Six specialists, </a:t>
            </a:r>
            <a:r>
              <a:rPr sz="3600" b="1" i="0">
                <a:solidFill>
                  <a:srgbClr val="3B5BDB"/>
                </a:solidFill>
                <a:latin typeface="Arial"/>
              </a:rPr>
              <a:t>not one genius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3520440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Ranker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judges fit 0–100 with strengths &amp; gaps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03120"/>
            <a:ext cx="3520440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Tailor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rewrites resume + letter for one job, in the posting's language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80" y="2103120"/>
            <a:ext cx="3520440" cy="137160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Reviewer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hunts invented facts, wrong company, wrong language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749040"/>
            <a:ext cx="3520440" cy="137160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Repairer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rewrites only what the Reviewer flagged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749040"/>
            <a:ext cx="3520440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Answerer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answers any form question — or says "not in profile"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80" y="3749040"/>
            <a:ext cx="3520440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Company Scout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proposes local employers, verified against real APIs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778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6203A"/>
                </a:solidFill>
                <a:latin typeface="Arial"/>
              </a:rPr>
              <a:t>Each has one narrow prompt, one job, and its own guardrail.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06 · MULTI-AGENT QUALITY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Writer → Critic → Fix: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catching AI lies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3349752" cy="118872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Tailor writes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draft resume + letter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81272" y="257860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19600" y="2103120"/>
            <a:ext cx="3349752" cy="118872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Reviewer checks every claim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profile is the only source of truth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15072" y="257860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53400" y="2103120"/>
            <a:ext cx="3349752" cy="118872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Repairer fixes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then it 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3192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B3251E"/>
                </a:solidFill>
                <a:latin typeface="Arial"/>
              </a:rPr>
              <a:t>CAUGHT IN TESTING: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draft claimed a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PhD in Physics</a:t>
            </a:r>
            <a:r>
              <a:rPr sz="2000" b="0" i="0">
                <a:solidFill>
                  <a:srgbClr val="16203A"/>
                </a:solidFill>
                <a:latin typeface="Arial"/>
              </a:rPr>
              <a:t>,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“10 years of experience”</a:t>
            </a:r>
            <a:r>
              <a:rPr sz="2000" b="0" i="0">
                <a:solidFill>
                  <a:srgbClr val="16203A"/>
                </a:solidFill>
                <a:latin typeface="Arial"/>
              </a:rPr>
              <a:t>, and addressed the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wrong company</a:t>
            </a:r>
          </a:p>
          <a:p>
            <a:pPr>
              <a:spcBef>
                <a:spcPts val="1400"/>
              </a:spcBef>
            </a:pPr>
            <a:r>
              <a:rPr sz="1800" b="1" i="0">
                <a:solidFill>
                  <a:srgbClr val="14804A"/>
                </a:solidFill>
                <a:latin typeface="Arial"/>
              </a:rPr>
              <a:t>AFTER REPAIR: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5 of 5 issues removed — re-review came back clean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07 ·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Autonomous,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not reckless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5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Documents may only use facts </a:t>
            </a:r>
            <a:r>
              <a:rPr sz="2500" b="1" i="0">
                <a:solidFill>
                  <a:srgbClr val="16203A"/>
                </a:solidFill>
                <a:latin typeface="Arial"/>
              </a:rPr>
              <a:t>from your profile</a:t>
            </a:r>
          </a:p>
          <a:p>
            <a:pPr>
              <a:spcAft>
                <a:spcPts val="1400"/>
              </a:spcAft>
            </a:pPr>
            <a:r>
              <a:rPr sz="25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Every packet is fact-checked by a second AI pass</a:t>
            </a:r>
          </a:p>
          <a:p>
            <a:pPr>
              <a:spcAft>
                <a:spcPts val="1400"/>
              </a:spcAft>
            </a:pPr>
            <a:r>
              <a:rPr sz="25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AI-suggested companies are </a:t>
            </a:r>
            <a:r>
              <a:rPr sz="2500" b="1" i="0">
                <a:solidFill>
                  <a:srgbClr val="16203A"/>
                </a:solidFill>
                <a:latin typeface="Arial"/>
              </a:rPr>
              <a:t>verified against real APIs</a:t>
            </a:r>
            <a:r>
              <a:rPr sz="2500" b="0" i="0">
                <a:solidFill>
                  <a:srgbClr val="16203A"/>
                </a:solidFill>
                <a:latin typeface="Arial"/>
              </a:rPr>
              <a:t> before use</a:t>
            </a:r>
          </a:p>
          <a:p>
            <a:pPr>
              <a:spcAft>
                <a:spcPts val="1400"/>
              </a:spcAft>
            </a:pPr>
            <a:r>
              <a:rPr sz="25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It never clicks Submit — </a:t>
            </a:r>
            <a:r>
              <a:rPr sz="2500" b="1" i="0">
                <a:solidFill>
                  <a:srgbClr val="16203A"/>
                </a:solidFill>
                <a:latin typeface="Arial"/>
              </a:rPr>
              <a:t>ever</a:t>
            </a:r>
          </a:p>
          <a:p>
            <a:pPr>
              <a:spcAft>
                <a:spcPts val="1400"/>
              </a:spcAft>
            </a:pPr>
            <a:r>
              <a:rPr sz="25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Your data and API key stay on </a:t>
            </a:r>
            <a:r>
              <a:rPr sz="2500" b="1" i="0">
                <a:solidFill>
                  <a:srgbClr val="16203A"/>
                </a:solidFill>
                <a:latin typeface="Arial"/>
              </a:rPr>
              <a:t>your</a:t>
            </a:r>
            <a:r>
              <a:rPr sz="2500" b="0" i="0">
                <a:solidFill>
                  <a:srgbClr val="16203A"/>
                </a:solidFill>
                <a:latin typeface="Arial"/>
              </a:rPr>
              <a:t> machine or browser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08 · THE FORM-FILLER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It fills the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real</a:t>
            </a:r>
            <a:r>
              <a:rPr sz="3400" b="1" i="0">
                <a:solidFill>
                  <a:srgbClr val="16203A"/>
                </a:solidFill>
                <a:latin typeface="Arial"/>
              </a:rPr>
              <a:t> application 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20240"/>
            <a:ext cx="2416302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Detect the form system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Greenhouse / Lever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47822" y="23728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6150" y="1920240"/>
            <a:ext cx="2416302" cy="11430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Open your Chrome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scan every field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48172" y="23728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86500" y="1920240"/>
            <a:ext cx="2416302" cy="11430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Fill + upload resume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code for standard fields, AI for open questions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48522" y="23728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86850" y="1920240"/>
            <a:ext cx="2416302" cy="114300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STOP</a:t>
            </a:r>
          </a:p>
          <a:p>
            <a:pPr algn="ctr"/>
            <a:r>
              <a:rPr sz="1200" b="0" i="0">
                <a:solidFill>
                  <a:srgbClr val="B9C2D8"/>
                </a:solidFill>
                <a:latin typeface="Arial"/>
              </a:rPr>
              <a:t>gaps highlighted — you review and submit</a:t>
            </a:r>
          </a:p>
        </p:txBody>
      </p:sp>
      <p:pic>
        <p:nvPicPr>
          <p:cNvPr id="11" name="Picture 10" descr="pres-autofi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106" y="3337560"/>
            <a:ext cx="4899482" cy="3291840"/>
          </a:xfrm>
          <a:prstGeom prst="rect">
            <a:avLst/>
          </a:prstGeom>
          <a:ln w="19050">
            <a:solidFill>
              <a:srgbClr val="D8DDE8"/>
            </a:solidFill>
          </a:ln>
          <a:effectLst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09 · WHERE THE JOBS COME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6203A"/>
                </a:solidFill>
                <a:latin typeface="Arial"/>
              </a:rPr>
              <a:t>10 boards + your country's </a:t>
            </a:r>
            <a:r>
              <a:rPr sz="3200" b="1" i="0">
                <a:solidFill>
                  <a:srgbClr val="3B5BDB"/>
                </a:solidFill>
                <a:latin typeface="Arial"/>
              </a:rPr>
              <a:t>actual companies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521208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9 public job boards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Remotive · RemoteOK · Arbeitnow · Jobicy · Himalayas · WeWorkRemotely · Hacker News · The Muse · Working Nomads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069080"/>
            <a:ext cx="52120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Aggregators (optional)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Jooble ~69 countries incl. Israel · Adzuna 20 countries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2057400"/>
            <a:ext cx="5212080" cy="17373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Company career pages — automatic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109 verified employers shipped for 9 countries. Israel: NICE · Via · Cato · Gong · Similarweb · Taboola · JFrog 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4069080"/>
            <a:ext cx="5212080" cy="137160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Unknown country?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AI proposes employers → each verified live → cached. Spain test: 3 companies, 83 real openings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10 · BILINGUAL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Hebrew posting?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Hebrew resume.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400" b="0" i="0">
                <a:solidFill>
                  <a:srgbClr val="16203A"/>
                </a:solidFill>
                <a:latin typeface="Arial"/>
              </a:rPr>
              <a:t>The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posting's language</a:t>
            </a:r>
            <a:r>
              <a:rPr sz="2400" b="0" i="0">
                <a:solidFill>
                  <a:srgbClr val="16203A"/>
                </a:solidFill>
                <a:latin typeface="Arial"/>
              </a:rPr>
              <a:t> decides the documents' language — not the profile's</a:t>
            </a:r>
          </a:p>
          <a:p>
            <a:pPr>
              <a:spcAft>
                <a:spcPts val="1600"/>
              </a:spcAft>
            </a:pPr>
            <a:r>
              <a:rPr sz="24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400" b="0" i="0">
                <a:solidFill>
                  <a:srgbClr val="16203A"/>
                </a:solidFill>
                <a:latin typeface="Arial"/>
              </a:rPr>
              <a:t>Full right-to-left layout: headings, bullets, dates —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ניהלתי תקציב של 250,000 ש״ח</a:t>
            </a:r>
          </a:p>
          <a:p>
            <a:pPr>
              <a:spcAft>
                <a:spcPts val="1600"/>
              </a:spcAft>
            </a:pPr>
            <a:r>
              <a:rPr sz="24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400" b="0" i="0">
                <a:solidFill>
                  <a:srgbClr val="16203A"/>
                </a:solidFill>
                <a:latin typeface="Arial"/>
              </a:rPr>
              <a:t>Hebrew quotes broke the model's JSON (ש"ח) — fixed with an automatic repair layer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11 · RUNS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Desktop app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and</a:t>
            </a:r>
            <a:r>
              <a:rPr sz="4200" b="1" i="0">
                <a:solidFill>
                  <a:srgbClr val="16203A"/>
                </a:solidFill>
                <a:latin typeface="Arial"/>
              </a:rPr>
              <a:t> a website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94560"/>
            <a:ext cx="5212080" cy="237744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Desktop (double-click)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full powers: form autofill · background auto-search · auto-prepared applications · PDF 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2194560"/>
            <a:ext cx="521208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Vercel (hosted)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stateless server — your profile, key, history and applications live in your own browser; nothing stored server-side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9377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6203A"/>
                </a:solidFill>
                <a:latin typeface="Arial"/>
              </a:rPr>
              <a:t>Same code, one flag. The app hides what each home can't do — with an explanation.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12 · 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Small system,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real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10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job sources searched in parallel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0312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109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verified company boards · 9 countries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80" y="210312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~15s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per tailored application (2 in parallel)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06908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5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AI calls per application — incl. fact-check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406908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21×2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automated end-to-end checks, desktop + hosted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80" y="406908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0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frameworks: Flask + vanilla JS + Playwright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4630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1" i="0">
                <a:solidFill>
                  <a:srgbClr val="16203A"/>
                </a:solidFill>
                <a:latin typeface="Arial"/>
              </a:rPr>
              <a:t>Questions</a:t>
            </a:r>
            <a:r>
              <a:rPr sz="8000" b="1" i="0">
                <a:solidFill>
                  <a:srgbClr val="3B5BDB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31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i="0">
                <a:solidFill>
                  <a:srgbClr val="16203A"/>
                </a:solidFill>
                <a:latin typeface="Arial"/>
              </a:rPr>
              <a:t>github.com/DavidZeff1/agent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7548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5A6478"/>
                </a:solidFill>
                <a:latin typeface="Arial"/>
              </a:rPr>
              <a:t>Python · Flask · Groq (llama-3.3-70b) · Playwright · your own Chrome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