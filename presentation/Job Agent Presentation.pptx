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One sentence: this is an AI agent that automates the repetitive 95% of job applications, and the demo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in the room has felt this. The point: none of these steps require human judgment except deciding to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in one line. Emphasize the last box: the human only does the final click — by design, not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app now: Job Agent.command must be running. Show these four things in order, then come back to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Ranked results. Point at the match score, the plain-language reasons, and Israeli company jobs (Cato, Via, Similarweb) pulled directly from career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prepared application: tailored PDF resume, cover letter, and copy buttons for every form answer. Note the fact-checked line in the header.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part 1: three doors into the same engine. Users click, scripts type, or you just ask in plain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part 2: the tool registry is the key design move — every capability defined once, callable by code or by the AI. Below it, five focused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part 3: everything external the engine talks to. Note: the LLM is just one of four external services — not the center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principle: no orchestrator agent. The flow is plain code; the LLM is used only at the points that need judgment. Each AI step can fail and the pipeline still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 tool literally is: a JSON description the AI can read, plus the real Python function. This is the actual search_jobs tool from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move: the same six tools serve two callers. Buttons call them in a fixed order; the AI chooses freely in agent mode. Tools return short summaries to keep the model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agent loop in four steps. Key point on step 3: the AI never runs anything itself — it asks, our code executes, and the result is fed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loop, recorded for real: three tool calls, then a plain-text answer. This trace is from an actual run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specialists instead of one giant prompt — part 1: the three everyday workers. Each has one narrow prompt, one job, its own guardrail.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quality pair that checks the writer's work (green), and the scout that finds employers in your country — every suggestion verified against real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multi-agent quality gate: every prepared application passes writer, then critic, then fixer — before you ever see it. The profile is the only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story: we planted a fake PhD, fake years, a Nobel Prize, and the wrong company. The reviewer caught all five; after repair, the re-check came back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by construction: grounded generation, a second AI pass on everything, verified discovery, and a hard rule — the software cannot click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form-filler agent, step by step. Plain code answers standard fields; the AI answers open questions; and it always stops before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on a real company's form (GitLab): name, email, phone filled, resume attached — and the green banner reminding you the last click is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jobs come from, part 1: nine public job boards searched in parallel, plus two optional aggregators unlocked with free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the country layer. 109 verified company boards ship with the app (29 Israeli). For any other country, the AI proposes employers and each one is verified live, then cached.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follows the posting, not the profile. Hebrew needed real bidi work — and Hebrew quote marks even broke the model's JSON until we added a repair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codebase, one flag. Desktop has the machine-bound powers; the hosted version is stateless — each visitor's data lives in their own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technical story with scale and rigor: parallel preparation, five AI calls per application including the fact-check, and a 21-check automated E2E in both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If asked about code: github.com/DavidZeff1/agent — the README documents the architecture and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FINAL PROJECT ·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Job </a:t>
            </a:r>
            <a:r>
              <a:rPr sz="8000" b="1" i="0">
                <a:solidFill>
                  <a:srgbClr val="3B5BDB"/>
                </a:solidFill>
                <a:latin typeface="Arial"/>
              </a:rP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0">
                <a:solidFill>
                  <a:srgbClr val="16203A"/>
                </a:solidFill>
                <a:latin typeface="Arial"/>
              </a:rPr>
              <a:t>An AI agent that does the boring 95% of job hunting —
and leaves the final </a:t>
            </a:r>
            <a:r>
              <a:rPr sz="2600" b="1" i="0">
                <a:solidFill>
                  <a:srgbClr val="16203A"/>
                </a:solidFill>
                <a:latin typeface="Arial"/>
              </a:rPr>
              <a:t>Submit</a:t>
            </a:r>
            <a:r>
              <a:rPr sz="2600" b="0" i="0">
                <a:solidFill>
                  <a:srgbClr val="16203A"/>
                </a:solidFill>
                <a:latin typeface="Arial"/>
              </a:rPr>
              <a:t> click to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5A6478"/>
                </a:solidFill>
                <a:latin typeface="Arial"/>
              </a:rPr>
              <a:t>David Zeff  ·  Python + Flask + Groq LLM  ·  live demo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6203A"/>
                </a:solidFill>
                <a:latin typeface="Arial"/>
              </a:rPr>
              <a:t>Applying to jobs is the same hour,
</a:t>
            </a:r>
            <a:r>
              <a:rPr sz="4000" b="1" i="0">
                <a:solidFill>
                  <a:srgbClr val="3B5BDB"/>
                </a:solidFill>
                <a:latin typeface="Arial"/>
              </a:rPr>
              <a:t>again and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607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Search five job boards, one by one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Re-type your details into every form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Tailor the resume — for every single job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Write yet another cover letter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600" b="0" i="0">
                <a:solidFill>
                  <a:srgbClr val="16203A"/>
                </a:solidFill>
                <a:latin typeface="Arial"/>
              </a:rPr>
              <a:t>Answer the same 20 questions every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02 · 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Tell it about yourself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Profile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entered once, stored locally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10 job sources at once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scored against your profile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tailored resume + letter, fact-checked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85292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46920" y="228600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You submit</a:t>
            </a:r>
          </a:p>
          <a:p>
            <a:pPr algn="ctr"/>
            <a:r>
              <a:rPr sz="1200" b="0" i="0">
                <a:solidFill>
                  <a:srgbClr val="B9C2D8"/>
                </a:solidFill>
                <a:latin typeface="Arial"/>
              </a:rPr>
              <a:t>the only manual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It even fills the employer's real application form — then stops and waits for you.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600" b="1" i="0">
                <a:solidFill>
                  <a:srgbClr val="16203A"/>
                </a:solidFill>
                <a:latin typeface="Arial"/>
              </a:rPr>
              <a:t>Live </a:t>
            </a:r>
            <a:r>
              <a:rPr sz="7600" b="1" i="0">
                <a:solidFill>
                  <a:srgbClr val="3B5BDB"/>
                </a:solidFill>
                <a:latin typeface="Arial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1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Profile — dropdowns, GitHub import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2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Find jobs — ranked, with reasons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3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Prepare — watch the AI work</a:t>
            </a:r>
          </a:p>
          <a:p>
            <a:pPr>
              <a:spcAft>
                <a:spcPts val="1200"/>
              </a:spcAft>
            </a:pPr>
            <a:r>
              <a:rPr sz="2700" b="1" i="0">
                <a:solidFill>
                  <a:srgbClr val="14804A"/>
                </a:solidFill>
                <a:latin typeface="Arial"/>
              </a:rPr>
              <a:t>4  </a:t>
            </a:r>
            <a:r>
              <a:rPr sz="2700" b="0" i="0">
                <a:solidFill>
                  <a:srgbClr val="16203A"/>
                </a:solidFill>
                <a:latin typeface="Arial"/>
              </a:rPr>
              <a:t>  Auto-fill a real application 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FINDING JOBS</a:t>
            </a:r>
          </a:p>
        </p:txBody>
      </p:sp>
      <p:pic>
        <p:nvPicPr>
          <p:cNvPr id="3" name="Picture 2" descr="pres-fi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Every job gets a match score and a plain-language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why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— including jobs straight from Israeli company career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03 · DEMO — A PREPARED APPLICATION</a:t>
            </a:r>
          </a:p>
        </p:txBody>
      </p:sp>
      <p:pic>
        <p:nvPicPr>
          <p:cNvPr id="3" name="Picture 2" descr="pres-det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35" y="914400"/>
            <a:ext cx="7349224" cy="49377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85800" y="60807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Tailored resume (PDF), cover letter, and every form answer with a </a:t>
            </a:r>
            <a:r>
              <a:rPr sz="1600" b="1" i="0">
                <a:solidFill>
                  <a:srgbClr val="5A6478"/>
                </a:solidFill>
                <a:latin typeface="Arial"/>
              </a:rPr>
              <a:t>Copy</a:t>
            </a:r>
            <a:r>
              <a:rPr sz="1600" b="0" i="0">
                <a:solidFill>
                  <a:srgbClr val="5A6478"/>
                </a:solidFill>
                <a:latin typeface="Arial"/>
              </a:rPr>
              <a:t> button — fact-checked before you see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Three ways in,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one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Web app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humans — buttons and forms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812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96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Terminal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for scripts and power users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50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53400" y="2377440"/>
            <a:ext cx="334975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"Find me python jobs"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plain-language agent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16203A"/>
                </a:solidFill>
                <a:latin typeface="Arial"/>
              </a:rPr>
              <a:t>All three call the exact same engine underneath — nothing is duplicated.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The engine: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one registry, five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10817352" cy="9601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Flask API + Tool Registry</a:t>
            </a:r>
          </a:p>
          <a:p>
            <a:pPr algn="ctr"/>
            <a:r>
              <a:rPr sz="1400" b="0" i="0">
                <a:solidFill>
                  <a:srgbClr val="B9C2D8"/>
                </a:solidFill>
                <a:latin typeface="Arial"/>
              </a:rPr>
              <a:t>every capability defined once — callable by code or by the LLM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6975" y="310896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scraper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finds jobs on 10 sources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2608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matching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scores each job 0–100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6636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generate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resume · letter · PDF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6831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autofill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fills real forms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08592" y="40873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3520440"/>
            <a:ext cx="1856232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tracker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remembers everything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—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What it talks to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out there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Job board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Remotive · RemoteOK · Jobicy · HN 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61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Company career APIs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· Lever · Ashby · SmartRecruiters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Groq LLM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llama-3.3-70b — the AI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03580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86850" y="237744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makes PDFs + fills 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720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All public, documented interfaces — no scraping tricks, no logins, no rule-breaking.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04 · ARCHITECTURE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Deterministic pipeline.
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AI only where judgment is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Search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8775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Rank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JUDGE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803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Write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WRITER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6831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Review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AI CRITIC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30586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46920" y="2651760"/>
            <a:ext cx="18562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600" b="1" i="0">
                <a:solidFill>
                  <a:srgbClr val="16203A"/>
                </a:solidFill>
                <a:latin typeface="Arial"/>
              </a:rPr>
              <a:t>Files &amp; tracking</a:t>
            </a:r>
          </a:p>
          <a:p>
            <a:pPr algn="ctr"/>
            <a:r>
              <a:rPr sz="1200" b="0" i="0">
                <a:solidFill>
                  <a:srgbClr val="5A6478"/>
                </a:solidFill>
                <a:latin typeface="Arial"/>
              </a:rPr>
              <a:t>plain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6203A"/>
                </a:solidFill>
                <a:latin typeface="Arial"/>
              </a:rPr>
              <a:t>No “orchestrator agent” deciding what to do next: the flow is code, so it never gets lost and never burns tokens on planning — and every AI step can fail </a:t>
            </a:r>
            <a:r>
              <a:rPr sz="2100" b="1" i="0">
                <a:solidFill>
                  <a:srgbClr val="16203A"/>
                </a:solidFill>
                <a:latin typeface="Arial"/>
              </a:rPr>
              <a:t>without breaking the pipeline</a:t>
            </a:r>
            <a:r>
              <a:rPr sz="2100" b="0" i="0">
                <a:solidFill>
                  <a:srgbClr val="16203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tool = a function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the model may call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2103120"/>
            <a:ext cx="8686800" cy="402336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146304" bIns="146304"/>
          <a:lstStyle/>
          <a:p>
            <a:pPr algn="ctr"/>
            <a:r>
              <a:rPr sz="1800" b="0" i="0">
                <a:solidFill>
                  <a:srgbClr val="E8ECF7"/>
                </a:solidFill>
                <a:latin typeface="Courier New"/>
              </a:rPr>
              <a:t>{ </a:t>
            </a:r>
            <a:r>
              <a:rPr sz="1800" b="0" i="0">
                <a:solidFill>
                  <a:srgbClr val="7EA8FF"/>
                </a:solidFill>
                <a:latin typeface="Courier New"/>
              </a:rPr>
              <a:t>"name"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"search_jobs"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r>
              <a:rPr sz="1800" b="0" i="0">
                <a:solidFill>
                  <a:srgbClr val="7EA8FF"/>
                </a:solidFill>
                <a:latin typeface="Courier New"/>
              </a:rPr>
              <a:t>  "description"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"Search job boards.</a:t>
            </a:r>
          </a:p>
          <a:p>
            <a:r>
              <a:rPr sz="1800" b="0" i="0">
                <a:solidFill>
                  <a:srgbClr val="5ED598"/>
                </a:solidFill>
                <a:latin typeface="Courier New"/>
              </a:rPr>
              <a:t>     Returns count and sample titles."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r>
              <a:rPr sz="1800" b="0" i="0">
                <a:solidFill>
                  <a:srgbClr val="7EA8FF"/>
                </a:solidFill>
                <a:latin typeface="Courier New"/>
              </a:rPr>
              <a:t>  "parameters"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{</a:t>
            </a:r>
          </a:p>
          <a:p>
            <a:r>
              <a:rPr sz="1800" b="0" i="0">
                <a:solidFill>
                  <a:srgbClr val="7EA8FF"/>
                </a:solidFill>
                <a:latin typeface="Courier New"/>
              </a:rPr>
              <a:t>    "keywords"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array of string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r>
              <a:rPr sz="1800" b="0" i="0">
                <a:solidFill>
                  <a:srgbClr val="7EA8FF"/>
                </a:solidFill>
                <a:latin typeface="Courier New"/>
              </a:rPr>
              <a:t>    "remote"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boolean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,</a:t>
            </a:r>
          </a:p>
          <a:p>
            <a:r>
              <a:rPr sz="1800" b="0" i="0">
                <a:solidFill>
                  <a:srgbClr val="7EA8FF"/>
                </a:solidFill>
                <a:latin typeface="Courier New"/>
              </a:rPr>
              <a:t>    "limit"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:    </a:t>
            </a:r>
            <a:r>
              <a:rPr sz="1800" b="0" i="0">
                <a:solidFill>
                  <a:srgbClr val="5ED598"/>
                </a:solidFill>
                <a:latin typeface="Courier New"/>
              </a:rPr>
              <a:t>integer</a:t>
            </a:r>
            <a:r>
              <a:rPr sz="1800" b="0" i="0">
                <a:solidFill>
                  <a:srgbClr val="E8ECF7"/>
                </a:solidFill>
                <a:latin typeface="Courier New"/>
              </a:rPr>
              <a:t> } }</a:t>
            </a:r>
          </a:p>
          <a:p>
            <a:r>
              <a:rPr sz="1800" b="0" i="0">
                <a:solidFill>
                  <a:srgbClr val="E8ECF7"/>
                </a:solidFill>
                <a:latin typeface="Courier New"/>
              </a:rPr>
              <a:t/>
            </a:r>
          </a:p>
          <a:p>
            <a:r>
              <a:rPr sz="1800" b="0" i="0">
                <a:solidFill>
                  <a:srgbClr val="8FA0C7"/>
                </a:solidFill>
                <a:latin typeface="Courier New"/>
              </a:rPr>
              <a:t># + the Python function that actually runs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AGENTS &amp; TOOLS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One registry,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two callers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103120"/>
            <a:ext cx="5029200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6 tools in one registry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search · rank · list · generate · answer · profile</a:t>
            </a:r>
          </a:p>
        </p:txBody>
      </p:sp>
      <p:sp>
        <p:nvSpPr>
          <p:cNvPr id="5" name="Down Arrow 4"/>
          <p:cNvSpPr/>
          <p:nvPr/>
        </p:nvSpPr>
        <p:spPr>
          <a:xfrm>
            <a:off x="402336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8001000" y="3154680"/>
            <a:ext cx="237744" cy="274320"/>
          </a:xfrm>
          <a:prstGeom prst="down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fixed pipeline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buttons &amp; terminal call tools in a set order — cheap, reliable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566160"/>
            <a:ext cx="4572000" cy="137160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The AI (agent mode)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reads the descriptions and chooses tools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Tools return short summaries, not raw data — the model stays focused and cheap.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THE AGENT LOOP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The agent loop,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step by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2103120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1 · You ask in plain language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"find remote python jobs, show top 3"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182112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2 · The AI sees the six tool descriptions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and picks a tool + arguments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261104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3 · Our code runs the real function</a:t>
            </a:r>
          </a:p>
          <a:p>
            <a:pPr algn="ctr"/>
            <a:r>
              <a:rPr sz="1400" b="0" i="0">
                <a:solidFill>
                  <a:srgbClr val="5A6478"/>
                </a:solidFill>
                <a:latin typeface="Arial"/>
              </a:rPr>
              <a:t>the AI only asks — it never executes anything itself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5340096"/>
            <a:ext cx="9235440" cy="932688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900" b="1" i="0">
                <a:solidFill>
                  <a:srgbClr val="16203A"/>
                </a:solidFill>
                <a:latin typeface="Arial"/>
              </a:rPr>
              <a:t>4 · Result goes back in; repeat until it can answer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05 · THE AGENT LOOP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 real recorded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57400"/>
            <a:ext cx="9966960" cy="41148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01168" rIns="201168" tIns="146304" bIns="146304"/>
          <a:lstStyle/>
          <a:p>
            <a:pPr algn="ctr"/>
            <a:r>
              <a:rPr sz="1700" b="0" i="0">
                <a:solidFill>
                  <a:srgbClr val="E8ECF7"/>
                </a:solidFill>
                <a:latin typeface="Courier New"/>
              </a:rPr>
              <a:t>$ agent </a:t>
            </a:r>
            <a:r>
              <a:rPr sz="1700" b="0" i="0">
                <a:solidFill>
                  <a:srgbClr val="5ED598"/>
                </a:solidFill>
                <a:latin typeface="Courier New"/>
              </a:rPr>
              <a:t>"find remote python jobs,</a:t>
            </a:r>
          </a:p>
          <a:p>
            <a:r>
              <a:rPr sz="1700" b="0" i="0">
                <a:solidFill>
                  <a:srgbClr val="5ED598"/>
                </a:solidFill>
                <a:latin typeface="Courier New"/>
              </a:rPr>
              <a:t>         show top 3, don't apply"</a:t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/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search_jobs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({"keywords": ["python"],</a:t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>               "remote": true})</a:t>
            </a:r>
          </a:p>
          <a:p>
            <a:r>
              <a:rPr sz="1700" b="0" i="0">
                <a:solidFill>
                  <a:srgbClr val="8FA0C7"/>
                </a:solidFill>
                <a:latin typeface="Courier New"/>
              </a:rPr>
              <a:t>   {"found": 14, ...}</a:t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rank_jobs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r>
              <a:rPr sz="1700" b="0" i="0">
                <a:solidFill>
                  <a:srgbClr val="8FA0C7"/>
                </a:solidFill>
                <a:latin typeface="Courier New"/>
              </a:rPr>
              <a:t>   {"ranked": 14, ...}</a:t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>→ tool: </a:t>
            </a:r>
            <a:r>
              <a:rPr sz="1700" b="0" i="0">
                <a:solidFill>
                  <a:srgbClr val="7EA8FF"/>
                </a:solidFill>
                <a:latin typeface="Courier New"/>
              </a:rPr>
              <a:t>list_ranked</a:t>
            </a:r>
            <a:r>
              <a:rPr sz="1700" b="0" i="0">
                <a:solidFill>
                  <a:srgbClr val="E8ECF7"/>
                </a:solidFill>
                <a:latin typeface="Courier New"/>
              </a:rPr>
              <a:t>({"top": 3})</a:t>
            </a:r>
          </a:p>
          <a:p>
            <a:r>
              <a:rPr sz="1700" b="0" i="0">
                <a:solidFill>
                  <a:srgbClr val="E8ECF7"/>
                </a:solidFill>
                <a:latin typeface="Courier New"/>
              </a:rPr>
              <a:t/>
            </a:r>
          </a:p>
          <a:p>
            <a:r>
              <a:rPr sz="1700" b="0" i="0">
                <a:solidFill>
                  <a:srgbClr val="5ED598"/>
                </a:solidFill>
                <a:latin typeface="Courier New"/>
              </a:rPr>
              <a:t>"Your top 3 matches are: …"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AI CAST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Six specialists,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one genius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Ranker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reads a posting like a recruiter; judges fit 0–100 with strengths &amp;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Tailor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resume + cover letter for one job, in the posting's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Answerer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answers any form question from your profile — or honestly says “not in profile”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Each gets one narrow prompt and returns structured JSON — nothing free-form.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THE AI CAST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…and the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Reviewer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hunts invented facts, wrong company, wrong language in every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39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Repairer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rewrites only what the Reviewer flagged — keeps the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8" y="2377440"/>
            <a:ext cx="3520440" cy="21945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200" b="1" i="0">
                <a:solidFill>
                  <a:srgbClr val="16203A"/>
                </a:solidFill>
                <a:latin typeface="Arial"/>
              </a:rPr>
              <a:t>Company Scout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proposes employers in your country — each verified against real career APIs before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The AI can propose; reality decides. Nothing unverified reaches you.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MULTI-AGENT QUALITY GATE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Writer → Critic →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Tailor writes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draft resume + letter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Reviewer checks every claim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your profile is the only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16203A"/>
                </a:solidFill>
                <a:latin typeface="Arial"/>
              </a:rPr>
              <a:t>Repairer fixes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only the flagged problems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2724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55448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It ships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clean documents + PDFs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06 · MULTI-AGENT QUALITY GATE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16203A"/>
                </a:solidFill>
                <a:latin typeface="Arial"/>
              </a:rPr>
              <a:t>Catching </a:t>
            </a:r>
            <a:r>
              <a:rPr sz="3800" b="1" i="0">
                <a:solidFill>
                  <a:srgbClr val="3B5BDB"/>
                </a:solidFill>
                <a:latin typeface="Arial"/>
              </a:rPr>
              <a:t>AI lies</a:t>
            </a:r>
            <a:r>
              <a:rPr sz="3800" b="1" i="0">
                <a:solidFill>
                  <a:srgbClr val="16203A"/>
                </a:solidFill>
                <a:latin typeface="Arial"/>
              </a:rPr>
              <a:t> — a real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B3251E"/>
                </a:solidFill>
                <a:latin typeface="Arial"/>
              </a:rPr>
              <a:t>CAUGHT IN TESTING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The draft claimed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PhD in Physics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“10 years of experience”</a:t>
            </a:r>
            <a:r>
              <a:rPr sz="2400" b="0" i="0">
                <a:solidFill>
                  <a:srgbClr val="16203A"/>
                </a:solidFill>
                <a:latin typeface="Arial"/>
              </a:rPr>
              <a:t>, a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Nobel Prize</a:t>
            </a:r>
            <a:r>
              <a:rPr sz="2400" b="0" i="0">
                <a:solidFill>
                  <a:srgbClr val="16203A"/>
                </a:solidFill>
                <a:latin typeface="Arial"/>
              </a:rPr>
              <a:t> — and addressed the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wrong company</a:t>
            </a:r>
          </a:p>
          <a:p>
            <a:pPr>
              <a:spcBef>
                <a:spcPts val="2600"/>
              </a:spcBef>
            </a:pPr>
            <a:r>
              <a:rPr sz="2000" b="1" i="0">
                <a:solidFill>
                  <a:srgbClr val="14804A"/>
                </a:solidFill>
                <a:latin typeface="Arial"/>
              </a:rPr>
              <a:t>AFTER REPAIR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16203A"/>
                </a:solidFill>
                <a:latin typeface="Arial"/>
              </a:rPr>
              <a:t>5 of 5 issues removed — the re-review came back clean 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07 ·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Autonomous,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not reckless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Documents may only use facts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from your profile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Every packet is fact-checked by a second AI pass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AI-suggested companies are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verified against real APIs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before use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B3251E"/>
                </a:solidFill>
                <a:latin typeface="Arial"/>
              </a:rPr>
              <a:t>✕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It never clicks Submit —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ever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500" b="0" i="0">
                <a:solidFill>
                  <a:srgbClr val="16203A"/>
                </a:solidFill>
                <a:latin typeface="Arial"/>
              </a:rPr>
              <a:t>Your data and API key stay on </a:t>
            </a:r>
            <a:r>
              <a:rPr sz="2500" b="1" i="0">
                <a:solidFill>
                  <a:srgbClr val="16203A"/>
                </a:solidFill>
                <a:latin typeface="Arial"/>
              </a:rPr>
              <a:t>your</a:t>
            </a:r>
            <a:r>
              <a:rPr sz="2500" b="0" i="0">
                <a:solidFill>
                  <a:srgbClr val="16203A"/>
                </a:solidFill>
                <a:latin typeface="Arial"/>
              </a:rPr>
              <a:t> machine or browser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FORM-FILLER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It fills the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</a:t>
            </a:r>
            <a:r>
              <a:rPr sz="3400" b="1" i="0">
                <a:solidFill>
                  <a:srgbClr val="16203A"/>
                </a:solidFill>
                <a:latin typeface="Arial"/>
              </a:rPr>
              <a:t> application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Detect the form system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Greenhouse / Lever — aggregator links traced to the real 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478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861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Open your Chrome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a script lists every field on the page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817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16203A"/>
                </a:solidFill>
                <a:latin typeface="Arial"/>
              </a:rPr>
              <a:t>Fill + upload resume</a:t>
            </a:r>
          </a:p>
          <a:p>
            <a:pPr algn="ctr"/>
            <a:r>
              <a:rPr sz="1300" b="0" i="0">
                <a:solidFill>
                  <a:srgbClr val="5A6478"/>
                </a:solidFill>
                <a:latin typeface="Arial"/>
              </a:rPr>
              <a:t>code for standard fields, AI for open questions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48522" y="3172968"/>
            <a:ext cx="292608" cy="237744"/>
          </a:xfrm>
          <a:prstGeom prst="rightArrow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86850" y="2468880"/>
            <a:ext cx="2416302" cy="164592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2857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STOP</a:t>
            </a:r>
          </a:p>
          <a:p>
            <a:pPr algn="ctr"/>
            <a:r>
              <a:rPr sz="1300" b="0" i="0">
                <a:solidFill>
                  <a:srgbClr val="B9C2D8"/>
                </a:solidFill>
                <a:latin typeface="Arial"/>
              </a:rPr>
              <a:t>gaps highlighted — you review and submit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08 · THE FORM-FILLER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A real form,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really filled</a:t>
            </a:r>
          </a:p>
        </p:txBody>
      </p:sp>
      <p:pic>
        <p:nvPicPr>
          <p:cNvPr id="4" name="Picture 3" descr="pres-autofi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77" y="1920240"/>
            <a:ext cx="6668740" cy="4480560"/>
          </a:xfrm>
          <a:prstGeom prst="rect">
            <a:avLst/>
          </a:prstGeom>
          <a:ln w="19050">
            <a:solidFill>
              <a:srgbClr val="D8DDE8"/>
            </a:solidFill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WHERE THE JOBS COME FROM —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9 public boards,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searched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Always on — no keys, no accounts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Remotive · RemoteOK · Arbeitnow · Jobicy · Himalayas · WeWorkRemotely · Hacker News “Who is hiring” · The Muse · Working Nomads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Optional aggregators (free keys in Settings)</a:t>
            </a:r>
          </a:p>
          <a:p>
            <a:pPr algn="ctr"/>
            <a:r>
              <a:rPr sz="1600" b="0" i="0">
                <a:solidFill>
                  <a:srgbClr val="5A6478"/>
                </a:solidFill>
                <a:latin typeface="Arial"/>
              </a:rPr>
              <a:t>Jooble — ~69 countries incl. Israel · Adzuna — 20 countries of local on-site jobs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09 · WHERE THE JOBS COME FROM —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6203A"/>
                </a:solidFill>
                <a:latin typeface="Arial"/>
              </a:rPr>
              <a:t>…plus your country's </a:t>
            </a:r>
            <a:r>
              <a:rPr sz="3400" b="1" i="0">
                <a:solidFill>
                  <a:srgbClr val="3B5BDB"/>
                </a:solidFill>
                <a:latin typeface="Arial"/>
              </a:rPr>
              <a:t>actual companies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10817352" cy="173736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Automatic from your profile's country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109 verified employers shipped for 9 countries. Israel: NICE · Via · Cato · Gong · Similarweb · Taboola · JFrog · Fireblocks · AppsFlyer … (29 total)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06240"/>
            <a:ext cx="10817352" cy="1463040"/>
          </a:xfrm>
          <a:prstGeom prst="roundRect">
            <a:avLst>
              <a:gd name="adj" fmla="val 12000"/>
            </a:avLst>
          </a:prstGeom>
          <a:solidFill>
            <a:srgbClr val="E3F2EA"/>
          </a:solidFill>
          <a:ln w="28575">
            <a:solidFill>
              <a:srgbClr val="148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Unknown country? The AI scouts it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AI proposes employers → each verified against real career APIs → cached 30 days. Spain test: Cabify, Typeform, Wallapop — 83 real openings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10 · BILINGUAL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Hebrew posting?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Hebrew resume.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The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posting's language</a:t>
            </a:r>
            <a:r>
              <a:rPr sz="2400" b="0" i="0">
                <a:solidFill>
                  <a:srgbClr val="16203A"/>
                </a:solidFill>
                <a:latin typeface="Arial"/>
              </a:rPr>
              <a:t> decides the documents' language — not the profile's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Full right-to-left layout: headings, bullets, dates — </a:t>
            </a:r>
            <a:r>
              <a:rPr sz="2400" b="1" i="0">
                <a:solidFill>
                  <a:srgbClr val="16203A"/>
                </a:solidFill>
                <a:latin typeface="Arial"/>
              </a:rPr>
              <a:t>ניהלתי תקציב של 250,000 ש״ח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14804A"/>
                </a:solidFill>
                <a:latin typeface="Arial"/>
              </a:rPr>
              <a:t>✓  </a:t>
            </a:r>
            <a:r>
              <a:rPr sz="2400" b="0" i="0">
                <a:solidFill>
                  <a:srgbClr val="16203A"/>
                </a:solidFill>
                <a:latin typeface="Arial"/>
              </a:rPr>
              <a:t>Hebrew quotes broke the model's JSON (ש"ח) — fixed with an automatic repair layer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11 · RUNS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Desktop app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and</a:t>
            </a:r>
            <a:r>
              <a:rPr sz="4200" b="1" i="0">
                <a:solidFill>
                  <a:srgbClr val="16203A"/>
                </a:solidFill>
                <a:latin typeface="Arial"/>
              </a:rPr>
              <a:t> a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94560"/>
            <a:ext cx="5212080" cy="2377440"/>
          </a:xfrm>
          <a:prstGeom prst="roundRect">
            <a:avLst>
              <a:gd name="adj" fmla="val 12000"/>
            </a:avLst>
          </a:prstGeom>
          <a:solidFill>
            <a:srgbClr val="EEF1FD"/>
          </a:solidFill>
          <a:ln w="28575">
            <a:solidFill>
              <a:srgbClr val="3B5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Desktop (double-click)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full powers: form autofill · background auto-search · auto-prepared applications · PDF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94560"/>
            <a:ext cx="521208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2000" b="1" i="0">
                <a:solidFill>
                  <a:srgbClr val="16203A"/>
                </a:solidFill>
                <a:latin typeface="Arial"/>
              </a:rPr>
              <a:t>Vercel (hosted)</a:t>
            </a:r>
          </a:p>
          <a:p>
            <a:pPr algn="ctr"/>
            <a:r>
              <a:rPr sz="1500" b="0" i="0">
                <a:solidFill>
                  <a:srgbClr val="5A6478"/>
                </a:solidFill>
                <a:latin typeface="Arial"/>
              </a:rPr>
              <a:t>stateless server — your profile, key, history and applications live in your own browser; nothing stored server-side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6203A"/>
                </a:solidFill>
                <a:latin typeface="Arial"/>
              </a:rPr>
              <a:t>Same code, one flag. The app hides what each home can't do — with an explanation.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12 ·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6203A"/>
                </a:solidFill>
                <a:latin typeface="Arial"/>
              </a:rPr>
              <a:t>Small system, </a:t>
            </a:r>
            <a:r>
              <a:rPr sz="4200" b="1" i="0">
                <a:solidFill>
                  <a:srgbClr val="3B5BDB"/>
                </a:solidFill>
                <a:latin typeface="Arial"/>
              </a:rPr>
              <a:t>real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job sources searched in parallel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109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verified company boards · 9 countries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210312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~15s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per tailored application (2 in parallel)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5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AI calls per application — incl. fact-check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21×2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automated end-to-end checks, desktop + hosted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4069080"/>
            <a:ext cx="3520440" cy="1691640"/>
          </a:xfrm>
          <a:prstGeom prst="roundRect">
            <a:avLst>
              <a:gd name="adj" fmla="val 10000"/>
            </a:avLst>
          </a:prstGeom>
          <a:solidFill>
            <a:srgbClr val="EE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3B5BDB"/>
                </a:solidFill>
                <a:latin typeface="Arial"/>
              </a:rPr>
              <a:t>0</a:t>
            </a:r>
          </a:p>
          <a:p>
            <a:pPr algn="ctr"/>
            <a:r>
              <a:rPr sz="1400" b="0" i="0">
                <a:solidFill>
                  <a:srgbClr val="16203A"/>
                </a:solidFill>
                <a:latin typeface="Arial"/>
              </a:rPr>
              <a:t>frameworks: Flask + vanilla JS + Playwright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3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5BDB"/>
                </a:solidFill>
                <a:latin typeface="Courier New"/>
              </a:rP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 i="0">
                <a:solidFill>
                  <a:srgbClr val="16203A"/>
                </a:solidFill>
                <a:latin typeface="Arial"/>
              </a:rPr>
              <a:t>Questions</a:t>
            </a:r>
            <a:r>
              <a:rPr sz="8000" b="1" i="0">
                <a:solidFill>
                  <a:srgbClr val="3B5BDB"/>
                </a:solidFill>
                <a:latin typeface="Arial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6203A"/>
                </a:solidFill>
                <a:latin typeface="Arial"/>
              </a:rPr>
              <a:t>github.com/DavidZeff1/agent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A6478"/>
                </a:solidFill>
                <a:latin typeface="Arial"/>
              </a:rPr>
              <a:t>Python · Flask · Groq (llama-3.3-70b) · Playwright · your own Chrome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