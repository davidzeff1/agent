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8" r:id="rId31"/>
    <p:sldId id="289" r:id="rId32"/>
    <p:sldId id="290" r:id="rId33"/>
    <p:sldId id="294" r:id="rId34"/>
    <p:sldId id="295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68"/>
  </p:normalViewPr>
  <p:slideViewPr>
    <p:cSldViewPr snapToGrid="0" snapToObjects="1">
      <p:cViewPr varScale="1">
        <p:scale>
          <a:sx n="116" d="100"/>
          <a:sy n="116" d="100"/>
        </p:scale>
        <p:origin x="208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504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yourself. One sentence: this is an AI agent that automates the repetitive 95% of job applications, and the demo is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Everyone in the room has felt this. The point: none of these steps require human judgment except deciding to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pipeline in one line. Emphasize the last box: the human only does the final click — by design, not as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the app now: Job Agent.command must be running. Show these four things in order, then come back to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Ranked results. Point at the match score, the plain-language reasons, and Israeli company jobs (Cato, Via, Similarweb) pulled directly from career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prepared application: tailored PDF resume, cover letter, and copy buttons for every form answer. Note the fact-checked line in the header.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part 1: three doors into the same engine. Users click, scripts type, or you just ask in plain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part 2: the tool registry is the key design move — every capability defined once, callable by code or by the AI. Below it, five focused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part 3: everything external the engine talks to. Note: the LLM is just one of four external services — not the center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principle: no orchestrator agent. The flow is plain code; the LLM is used only at the points that need judgment. Each AI step can fail and the pipeline still completes.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principle made concrete with ranking: transparent math scores every job (weights on screen), the AI re-ranks only the top 10, and the final score is a 50/50 blend. If the AI call fails, the math score simply 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a tool literally is: a JSON description the AI can read, plus the real Python function. This is the actual search_jobs tool from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that a tool is not magic: one dataclass with four fields, and a registry that is literally a dict. to_schema() emits exactly the shape the LLM API expects. The whole tool system is about 60 lines of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design move: the same six tools serve two callers. Buttons call them in a fixed order; the AI chooses freely in agent mode. Tools return short summaries to keep the model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Demystify tool calling: the model only ever outputs text — a tool name plus arguments as a JSON string. dispatch() runs the real function, and every possible failure goes back to the model as a JSON error message it can read and correct. Errors are feedback, not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 economics: the search tool answers with a count and eight sample titles (~80 tokens), not 14 full postings (~15,000 tokens). The big data goes to a file on disk; the next tool reads the file, not the chat. This keeps every agent step fast, cheap, and inside free-tier rate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agent loop in four steps. Key point on step 3: the AI never runs anything itself — it asks, our code executes, and the result is fed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whole agent fits on one slide — agent.py is 87 lines in the repo including documentation. Point at max_steps (a hard budget: it can never loop forever) and at the exit condition: no tool calls means the model answered in plain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key mental model: the LLM itself is stateless. This growing list of messages IS the agent's memory — every iteration replays the whole list, and the model picks the next move. When it ends in plain text instead of a tool call, the loop is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same loop, recorded for real: three tool calls, then a plain-text answer. This trace is from an actual run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specialists instead of one giant prompt — part 1: the three everyday workers. Each has one narrow prompt, one job, its own guardrail.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2: the quality pair that checks the writer's work (green), and the scout that finds employers in your country — every suggestion verified against real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anti-hallucination cage inside the writer's prompt: experience is sent as a numbered list, and bullets must come back keyed by those numbers — an invented job has no index to hang on. The output language is named explicitly, and temperature drops as the job gets stricter: writer 0.35, judge 0.2, critic 0.1.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multi-agent quality gate: every prepared application passes writer, then critic, then fixer — before you ever see it. The profile is the only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 the story: we planted a fake PhD, fake years, a Nobel Prize, and the wrong company. The reviewer caught all five; after repair, the re-check came back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behind the Prepare button: at most three AI calls (repair only runs if the reviewer flagged something) — the rest is plain code. The progress ticker in the demo is these phases reporting live. Every AI step has a fallback: tailor fails → untailored resume; review fails → draft kept; repair fails → original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Safety by construction: grounded generation, a second AI pass on everything, verified discovery, and a hard rule — the software cannot click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form-filler agent, step by step. Plain code answers standard fields; the AI answers open questions; and it always stops before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Proof on a real company's form (GitLab): name, email, phone filled, resume attached — and the green banner reminding you the last click is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the jobs come from, part 1: nine public job boards searched in parallel, plus two optional aggregators unlocked with free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2: the country layer. 109 verified company boards ship with the app (29 Israeli). For any other country, the AI proposes employers and each one is verified live, then cached.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Scraper internals: 12 small fetchers all normalize into one Job record; each isolates its own failures so a dead API never kills the search; up to 30 company boards are fetched on a 10-thread pool; relevance is scored client-side title-first because boards' own search is unreliable; then dedupe and a round-robin cap keep variety.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technical story with scale and rigor: parallel preparation, five AI calls per application including the fact-check, and a 21-check automated E2E in both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Q&amp;A. If asked about code: github.com/DavidZeff1/agent — the README documents the architecture and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FINAL PROJECT ·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 i="0">
                <a:solidFill>
                  <a:srgbClr val="16203A"/>
                </a:solidFill>
                <a:latin typeface="Arial"/>
              </a:rPr>
              <a:t>Job </a:t>
            </a:r>
            <a:r>
              <a:rPr sz="8000" b="1" i="0">
                <a:solidFill>
                  <a:srgbClr val="3B5BDB"/>
                </a:solidFill>
                <a:latin typeface="Arial"/>
              </a:rPr>
              <a:t>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661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16203A"/>
                </a:solidFill>
                <a:latin typeface="Arial"/>
              </a:rPr>
              <a:t>An AI agent that does the boring 95% of job hunting —
and leaves the final </a:t>
            </a:r>
            <a:r>
              <a:rPr sz="2600" b="1" i="0">
                <a:solidFill>
                  <a:srgbClr val="16203A"/>
                </a:solidFill>
                <a:latin typeface="Arial"/>
              </a:rPr>
              <a:t>Submit</a:t>
            </a:r>
            <a:r>
              <a:rPr sz="2600" b="0" i="0">
                <a:solidFill>
                  <a:srgbClr val="16203A"/>
                </a:solidFill>
                <a:latin typeface="Arial"/>
              </a:rPr>
              <a:t> click to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6072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 dirty="0">
                <a:solidFill>
                  <a:srgbClr val="5A6478"/>
                </a:solidFill>
                <a:latin typeface="Arial"/>
              </a:rPr>
              <a:t>David Zeff</a:t>
            </a:r>
            <a:r>
              <a:rPr lang="en-US" sz="1700" dirty="0">
                <a:solidFill>
                  <a:srgbClr val="5A6478"/>
                </a:solidFill>
                <a:latin typeface="Arial"/>
              </a:rPr>
              <a:t> - Fatema Othman</a:t>
            </a:r>
            <a:r>
              <a:rPr sz="1700" b="0" i="0" dirty="0">
                <a:solidFill>
                  <a:srgbClr val="5A6478"/>
                </a:solidFill>
                <a:latin typeface="Arial"/>
              </a:rPr>
              <a:t> ·  Python + Flask + </a:t>
            </a:r>
            <a:r>
              <a:rPr sz="1700" b="0" i="0" dirty="0" err="1">
                <a:solidFill>
                  <a:srgbClr val="5A6478"/>
                </a:solidFill>
                <a:latin typeface="Arial"/>
              </a:rPr>
              <a:t>Groq</a:t>
            </a:r>
            <a:r>
              <a:rPr sz="1700" b="0" i="0" dirty="0">
                <a:solidFill>
                  <a:srgbClr val="5A6478"/>
                </a:solidFill>
                <a:latin typeface="Arial"/>
              </a:rPr>
              <a:t> LLM  ·  live demo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6203A"/>
                </a:solidFill>
                <a:latin typeface="Arial"/>
              </a:rPr>
              <a:t>Applying to jobs is the same hour,
</a:t>
            </a:r>
            <a:r>
              <a:rPr sz="4000" b="1" i="0">
                <a:solidFill>
                  <a:srgbClr val="3B5BDB"/>
                </a:solidFill>
                <a:latin typeface="Arial"/>
              </a:rPr>
              <a:t>again and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607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Search five job boards, one by one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Re-type your details into every form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Tailor the resume — for every single job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Write yet another cover letter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Answer the same 20 questions every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02 ·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Tell it about yourself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Profile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entered once, stored locally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87752" y="285292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8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Search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10 job sources at once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28032" y="285292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636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Rank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scored against your profile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68312" y="285292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0664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Write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tailored resume + letter, fact-checked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08592" y="285292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4692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You submit</a:t>
            </a:r>
          </a:p>
          <a:p>
            <a:pPr algn="ctr"/>
            <a:r>
              <a:rPr sz="1200" b="0" i="0">
                <a:solidFill>
                  <a:srgbClr val="B9C2D8"/>
                </a:solidFill>
                <a:latin typeface="Arial"/>
              </a:rPr>
              <a:t>the only manual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6203A"/>
                </a:solidFill>
                <a:latin typeface="Arial"/>
              </a:rPr>
              <a:t>It even fills the employer's real application form — then stops and waits for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03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600" b="1" i="0">
                <a:solidFill>
                  <a:srgbClr val="16203A"/>
                </a:solidFill>
                <a:latin typeface="Arial"/>
              </a:rPr>
              <a:t>Live </a:t>
            </a:r>
            <a:r>
              <a:rPr sz="7600" b="1" i="0">
                <a:solidFill>
                  <a:srgbClr val="3B5BDB"/>
                </a:solidFill>
                <a:latin typeface="Arial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b="1" i="0">
                <a:solidFill>
                  <a:srgbClr val="14804A"/>
                </a:solidFill>
                <a:latin typeface="Arial"/>
              </a:rPr>
              <a:t>1  </a:t>
            </a:r>
            <a:r>
              <a:rPr sz="2700" b="0" i="0">
                <a:solidFill>
                  <a:srgbClr val="16203A"/>
                </a:solidFill>
                <a:latin typeface="Arial"/>
              </a:rPr>
              <a:t>  Profile — dropdowns, GitHub import</a:t>
            </a:r>
          </a:p>
          <a:p>
            <a:pPr>
              <a:spcAft>
                <a:spcPts val="1200"/>
              </a:spcAft>
            </a:pPr>
            <a:r>
              <a:rPr sz="2700" b="1" i="0">
                <a:solidFill>
                  <a:srgbClr val="14804A"/>
                </a:solidFill>
                <a:latin typeface="Arial"/>
              </a:rPr>
              <a:t>2  </a:t>
            </a:r>
            <a:r>
              <a:rPr sz="2700" b="0" i="0">
                <a:solidFill>
                  <a:srgbClr val="16203A"/>
                </a:solidFill>
                <a:latin typeface="Arial"/>
              </a:rPr>
              <a:t>  Find jobs — ranked, with reasons</a:t>
            </a:r>
          </a:p>
          <a:p>
            <a:pPr>
              <a:spcAft>
                <a:spcPts val="1200"/>
              </a:spcAft>
            </a:pPr>
            <a:r>
              <a:rPr sz="2700" b="1" i="0">
                <a:solidFill>
                  <a:srgbClr val="14804A"/>
                </a:solidFill>
                <a:latin typeface="Arial"/>
              </a:rPr>
              <a:t>3  </a:t>
            </a:r>
            <a:r>
              <a:rPr sz="2700" b="0" i="0">
                <a:solidFill>
                  <a:srgbClr val="16203A"/>
                </a:solidFill>
                <a:latin typeface="Arial"/>
              </a:rPr>
              <a:t>  Prepare — watch the AI work</a:t>
            </a:r>
          </a:p>
          <a:p>
            <a:pPr>
              <a:spcAft>
                <a:spcPts val="1200"/>
              </a:spcAft>
            </a:pPr>
            <a:r>
              <a:rPr sz="2700" b="1" i="0">
                <a:solidFill>
                  <a:srgbClr val="14804A"/>
                </a:solidFill>
                <a:latin typeface="Arial"/>
              </a:rPr>
              <a:t>4  </a:t>
            </a:r>
            <a:r>
              <a:rPr sz="2700" b="0" i="0">
                <a:solidFill>
                  <a:srgbClr val="16203A"/>
                </a:solidFill>
                <a:latin typeface="Arial"/>
              </a:rPr>
              <a:t>  Auto-fill a real application 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03 · DEMO — FINDING JOBS</a:t>
            </a:r>
          </a:p>
        </p:txBody>
      </p:sp>
      <p:pic>
        <p:nvPicPr>
          <p:cNvPr id="3" name="Picture 2" descr="pres-fi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35" y="914400"/>
            <a:ext cx="7349224" cy="4937760"/>
          </a:xfrm>
          <a:prstGeom prst="rect">
            <a:avLst/>
          </a:prstGeom>
          <a:ln w="19050">
            <a:solidFill>
              <a:srgbClr val="D8DDE8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6080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Every job gets a match score and a plain-language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why</a:t>
            </a:r>
            <a:r>
              <a:rPr sz="1600" b="0" i="0">
                <a:solidFill>
                  <a:srgbClr val="5A6478"/>
                </a:solidFill>
                <a:latin typeface="Arial"/>
              </a:rPr>
              <a:t> — including jobs straight from Israeli company career pages.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03 · DEMO — A PREPARED APPLICATION</a:t>
            </a:r>
          </a:p>
        </p:txBody>
      </p:sp>
      <p:pic>
        <p:nvPicPr>
          <p:cNvPr id="3" name="Picture 2" descr="pres-det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35" y="914400"/>
            <a:ext cx="7349224" cy="4937760"/>
          </a:xfrm>
          <a:prstGeom prst="rect">
            <a:avLst/>
          </a:prstGeom>
          <a:ln w="19050">
            <a:solidFill>
              <a:srgbClr val="D8DDE8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6080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Tailored resume (PDF), cover letter, and every form answer with a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Copy</a:t>
            </a:r>
            <a:r>
              <a:rPr sz="1600" b="0" i="0">
                <a:solidFill>
                  <a:srgbClr val="5A6478"/>
                </a:solidFill>
                <a:latin typeface="Arial"/>
              </a:rPr>
              <a:t> button — fact-checked before you see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ARCHITECTURE —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Three ways in,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one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Web app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for humans — buttons and forms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8127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19600" y="237744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Terminal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for scripts and power users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1507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53400" y="237744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"Find me python jobs"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plain-language agent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6203A"/>
                </a:solidFill>
                <a:latin typeface="Arial"/>
              </a:rPr>
              <a:t>All three call the exact same engine underneath — nothing is duplicated.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ARCHITECTURE —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The engine: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one registry, five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17352" cy="96012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Flask API + Tool Registry</a:t>
            </a:r>
          </a:p>
          <a:p>
            <a:pPr algn="ctr"/>
            <a:r>
              <a:rPr sz="1400" b="0" i="0">
                <a:solidFill>
                  <a:srgbClr val="B9C2D8"/>
                </a:solidFill>
                <a:latin typeface="Arial"/>
              </a:rPr>
              <a:t>every capability defined once — callable by code or by the LLM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76975" y="3108960"/>
            <a:ext cx="237744" cy="274320"/>
          </a:xfrm>
          <a:prstGeom prst="down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scraper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finds jobs on 10 sources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87752" y="4087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2608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matching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scores each job 0–100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28032" y="4087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6636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generate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resume · letter · PDF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68312" y="4087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0664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autofill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fills real forms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08592" y="4087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4692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tracker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remembers everything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ARCHITECTURE —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What it talks to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out there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Job board APIs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Remotive · RemoteOK · Jobicy · HN …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782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86150" y="237744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Company career APIs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Greenhouse · Lever · Ashby · SmartRecruiters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817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86500" y="237744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Groq LLM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llama-3.3-70b — the AI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852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6850" y="237744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Your Chrome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makes PDFs + fills 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All public, documented interfaces — no scraping tricks, no logins, no rule-breaking.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ARCHITECTURE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Deterministic pipeline.
</a:t>
            </a:r>
            <a:r>
              <a:rPr sz="3400" b="1" i="0">
                <a:solidFill>
                  <a:srgbClr val="3B5BDB"/>
                </a:solidFill>
                <a:latin typeface="Arial"/>
              </a:rPr>
              <a:t>AI only where judgment is needed.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Search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plain code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87752" y="30586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8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Rank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JUDGE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28032" y="30586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636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Write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WRITER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68312" y="30586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0664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Review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CRITIC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08592" y="30586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4692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Files &amp; tracking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plain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6203A"/>
                </a:solidFill>
                <a:latin typeface="Arial"/>
              </a:rPr>
              <a:t>No “orchestrator agent” deciding what to do next: the flow is code, so it never gets lost and never burns tokens on planning — and every AI step can fail </a:t>
            </a:r>
            <a:r>
              <a:rPr sz="2100" b="1" i="0">
                <a:solidFill>
                  <a:srgbClr val="16203A"/>
                </a:solidFill>
                <a:latin typeface="Arial"/>
              </a:rPr>
              <a:t>without breaking the pipeline</a:t>
            </a:r>
            <a:r>
              <a:rPr sz="2100" b="0" i="0">
                <a:solidFill>
                  <a:srgbClr val="16203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THE PRINCIPLE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6203A"/>
                </a:solidFill>
                <a:latin typeface="Arial"/>
              </a:rPr>
              <a:t>Example: how </a:t>
            </a:r>
            <a:r>
              <a:rPr sz="3600" b="1" i="0">
                <a:solidFill>
                  <a:srgbClr val="3B5BDB"/>
                </a:solidFill>
                <a:latin typeface="Arial"/>
              </a:rPr>
              <a:t>Rank</a:t>
            </a:r>
            <a:r>
              <a:rPr sz="3600" b="1" i="0">
                <a:solidFill>
                  <a:srgbClr val="16203A"/>
                </a:solidFill>
                <a:latin typeface="Arial"/>
              </a:rPr>
              <a:t> really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03120"/>
            <a:ext cx="254203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400" b="1" i="0">
                <a:solidFill>
                  <a:srgbClr val="16203A"/>
                </a:solidFill>
                <a:latin typeface="Arial"/>
              </a:rPr>
              <a:t>40%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skills overlap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7288" y="2103120"/>
            <a:ext cx="254203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400" b="1" i="0">
                <a:solidFill>
                  <a:srgbClr val="16203A"/>
                </a:solidFill>
                <a:latin typeface="Arial"/>
              </a:rPr>
              <a:t>27%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title match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2103120"/>
            <a:ext cx="254203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400" b="1" i="0">
                <a:solidFill>
                  <a:srgbClr val="16203A"/>
                </a:solidFill>
                <a:latin typeface="Arial"/>
              </a:rPr>
              <a:t>18%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location &amp; remote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0264" y="2103120"/>
            <a:ext cx="254203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400" b="1" i="0">
                <a:solidFill>
                  <a:srgbClr val="16203A"/>
                </a:solidFill>
                <a:latin typeface="Arial"/>
              </a:rPr>
              <a:t>15%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seniority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1188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Math scores every job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0–100 with plain-language reasons — instant, free, works with no AI at all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81272" y="4270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19600" y="361188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AI re-ranks the top 10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a recruiter prompt returns score, verdict, strengths, gaps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5072" y="4270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53400" y="361188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Final = 50 / 50 blend</a:t>
            </a:r>
          </a:p>
          <a:p>
            <a:pPr algn="ctr"/>
            <a:r>
              <a:rPr sz="1300" b="0" i="0">
                <a:solidFill>
                  <a:srgbClr val="B9C2D8"/>
                </a:solidFill>
                <a:latin typeface="Arial"/>
              </a:rPr>
              <a:t>neither the math nor the model decides 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69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If the AI call fails, the math score stands — ranking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never breaks</a:t>
            </a:r>
            <a:r>
              <a:rPr sz="1600" b="0" i="0">
                <a:solidFill>
                  <a:srgbClr val="5A647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AGENTS &amp; TOOLS —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A tool = a function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the model may 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103120"/>
            <a:ext cx="8686800" cy="402336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800" b="0" i="0">
                <a:solidFill>
                  <a:srgbClr val="E8ECF7"/>
                </a:solidFill>
                <a:latin typeface="Courier New"/>
              </a:rPr>
              <a:t>{ </a:t>
            </a:r>
            <a:r>
              <a:rPr sz="1800" b="0" i="0">
                <a:solidFill>
                  <a:srgbClr val="7EA8FF"/>
                </a:solidFill>
                <a:latin typeface="Courier New"/>
              </a:rPr>
              <a:t>"name"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"search_jobs"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,</a:t>
            </a:r>
          </a:p>
          <a:p>
            <a:pPr algn="l"/>
            <a:r>
              <a:rPr sz="1800" b="0" i="0">
                <a:solidFill>
                  <a:srgbClr val="7EA8FF"/>
                </a:solidFill>
                <a:latin typeface="Courier New"/>
              </a:rPr>
              <a:t>  "description"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"Search job boards.</a:t>
            </a:r>
          </a:p>
          <a:p>
            <a:pPr algn="l"/>
            <a:r>
              <a:rPr sz="1800" b="0" i="0">
                <a:solidFill>
                  <a:srgbClr val="5ED598"/>
                </a:solidFill>
                <a:latin typeface="Courier New"/>
              </a:rPr>
              <a:t>     Returns count and sample titles."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,</a:t>
            </a:r>
          </a:p>
          <a:p>
            <a:pPr algn="l"/>
            <a:r>
              <a:rPr sz="1800" b="0" i="0">
                <a:solidFill>
                  <a:srgbClr val="7EA8FF"/>
                </a:solidFill>
                <a:latin typeface="Courier New"/>
              </a:rPr>
              <a:t>  "parameters"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{</a:t>
            </a:r>
          </a:p>
          <a:p>
            <a:pPr algn="l"/>
            <a:r>
              <a:rPr sz="1800" b="0" i="0">
                <a:solidFill>
                  <a:srgbClr val="7EA8FF"/>
                </a:solidFill>
                <a:latin typeface="Courier New"/>
              </a:rPr>
              <a:t>    "keywords"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array of string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,</a:t>
            </a:r>
          </a:p>
          <a:p>
            <a:pPr algn="l"/>
            <a:r>
              <a:rPr sz="1800" b="0" i="0">
                <a:solidFill>
                  <a:srgbClr val="7EA8FF"/>
                </a:solidFill>
                <a:latin typeface="Courier New"/>
              </a:rPr>
              <a:t>    "remote"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 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boolean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,</a:t>
            </a:r>
          </a:p>
          <a:p>
            <a:pPr algn="l"/>
            <a:r>
              <a:rPr sz="1800" b="0" i="0">
                <a:solidFill>
                  <a:srgbClr val="7EA8FF"/>
                </a:solidFill>
                <a:latin typeface="Courier New"/>
              </a:rPr>
              <a:t>    "limit"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  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integer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 } }</a:t>
            </a:r>
          </a:p>
          <a:p>
            <a:pPr algn="l"/>
            <a:endParaRPr sz="1800" b="0" i="0">
              <a:solidFill>
                <a:srgbClr val="E8ECF7"/>
              </a:solidFill>
              <a:latin typeface="Courier New"/>
            </a:endParaRPr>
          </a:p>
          <a:p>
            <a:pPr algn="l"/>
            <a:r>
              <a:rPr sz="1800" b="0" i="0">
                <a:solidFill>
                  <a:srgbClr val="8FA0C7"/>
                </a:solidFill>
                <a:latin typeface="Courier New"/>
              </a:rPr>
              <a:t># + the Python function that actually runs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AGENTS &amp; TOOLS —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The whole tool system,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in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2011680"/>
            <a:ext cx="9326880" cy="406908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600" b="0" i="0">
                <a:solidFill>
                  <a:srgbClr val="7EA8FF"/>
                </a:solidFill>
                <a:latin typeface="Courier New"/>
              </a:rPr>
              <a:t>@dataclass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class Tool: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name: str       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"search_jobs"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description: str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what the model reads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parameters: dict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JSON Schema of the arguments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func: Callable  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the real Python function</a:t>
            </a:r>
          </a:p>
          <a:p>
            <a:pPr algn="l"/>
            <a:endParaRPr sz="1600" b="0" i="0">
              <a:solidFill>
                <a:srgbClr val="8FA0C7"/>
              </a:solidFill>
              <a:latin typeface="Courier New"/>
            </a:endParaRP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def to_schema(self):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the exact shape the API wants</a:t>
            </a:r>
          </a:p>
          <a:p>
            <a:pPr algn="l"/>
            <a:r>
              <a:rPr sz="1600" b="0" i="0">
                <a:solidFill>
                  <a:srgbClr val="5ED598"/>
                </a:solidFill>
                <a:latin typeface="Courier New"/>
              </a:rPr>
              <a:t>        return {"type": "function", "function": {…}}</a:t>
            </a:r>
          </a:p>
          <a:p>
            <a:pPr algn="l"/>
            <a:endParaRPr sz="1600" b="0" i="0">
              <a:solidFill>
                <a:srgbClr val="5ED598"/>
              </a:solidFill>
              <a:latin typeface="Courier New"/>
            </a:endParaRP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class ToolRegistry: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_tools: dict[str, Tool]   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the registry IS a dict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def schemas(self): …      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all tools, for the model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def dispatch(self, name, args): …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run one by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~60 lines total. A tool is just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data + a function</a:t>
            </a:r>
            <a:r>
              <a:rPr sz="1600" b="0" i="0">
                <a:solidFill>
                  <a:srgbClr val="5A6478"/>
                </a:solidFill>
                <a:latin typeface="Arial"/>
              </a:rPr>
              <a:t> — nothing more.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AGENTS &amp; TOOLS —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One registry,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two callers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210312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 tools in one registry</a:t>
            </a:r>
          </a:p>
          <a:p>
            <a:pPr algn="ctr"/>
            <a:r>
              <a:rPr sz="1300" b="0" i="0">
                <a:solidFill>
                  <a:srgbClr val="B9C2D8"/>
                </a:solidFill>
                <a:latin typeface="Arial"/>
              </a:rPr>
              <a:t>search · rank · list · generate · answer · profile</a:t>
            </a:r>
          </a:p>
        </p:txBody>
      </p:sp>
      <p:sp>
        <p:nvSpPr>
          <p:cNvPr id="5" name="Down Arrow 4"/>
          <p:cNvSpPr/>
          <p:nvPr/>
        </p:nvSpPr>
        <p:spPr>
          <a:xfrm>
            <a:off x="4023360" y="3154680"/>
            <a:ext cx="237744" cy="274320"/>
          </a:xfrm>
          <a:prstGeom prst="down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own Arrow 5"/>
          <p:cNvSpPr/>
          <p:nvPr/>
        </p:nvSpPr>
        <p:spPr>
          <a:xfrm>
            <a:off x="8001000" y="3154680"/>
            <a:ext cx="237744" cy="274320"/>
          </a:xfrm>
          <a:prstGeom prst="down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80160" y="3566160"/>
            <a:ext cx="45720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The fixed pipeline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buttons &amp; terminal call tools in a set order — cheap, reliable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566160"/>
            <a:ext cx="4572000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The AI (agent mode)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reads the descriptions and chooses tools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Tools return short summaries, not raw data — the model stays focused and cheap.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AGENTS &amp; TOOLS —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What “calling a tool”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actually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1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 The model never executes anything — it outputs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text</a:t>
            </a:r>
            <a:r>
              <a:rPr sz="2000" b="0" i="0">
                <a:solidFill>
                  <a:srgbClr val="16203A"/>
                </a:solidFill>
                <a:latin typeface="Arial"/>
              </a:rPr>
              <a:t>: a tool name + arguments as a JSON string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2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 dispatch(): parse the JSON → look up the tool → run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func(**args)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→ return the result as JSON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3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 Every failure becomes a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message</a:t>
            </a:r>
            <a:r>
              <a:rPr sz="2000" b="0" i="0">
                <a:solidFill>
                  <a:srgbClr val="16203A"/>
                </a:solidFill>
                <a:latin typeface="Arial"/>
              </a:rPr>
              <a:t>, never a crash: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94760"/>
            <a:ext cx="9326880" cy="21031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500" b="0" i="0">
                <a:solidFill>
                  <a:srgbClr val="5ED598"/>
                </a:solidFill>
                <a:latin typeface="Courier New"/>
              </a:rPr>
              <a:t>{"error": "unknown tool 'serch_jobs'"}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            # typo'd name</a:t>
            </a:r>
          </a:p>
          <a:p>
            <a:pPr algn="l"/>
            <a:r>
              <a:rPr sz="1500" b="0" i="0">
                <a:solidFill>
                  <a:srgbClr val="5ED598"/>
                </a:solidFill>
                <a:latin typeface="Courier New"/>
              </a:rPr>
              <a:t>{"error": "arguments were not valid JSON"}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        # malformed args</a:t>
            </a:r>
          </a:p>
          <a:p>
            <a:pPr algn="l"/>
            <a:r>
              <a:rPr sz="1500" b="0" i="0">
                <a:solidFill>
                  <a:srgbClr val="5ED598"/>
                </a:solidFill>
                <a:latin typeface="Courier New"/>
              </a:rPr>
              <a:t>{"error": "bad arguments for search_jobs: …"}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     # wrong params</a:t>
            </a:r>
          </a:p>
          <a:p>
            <a:pPr algn="l"/>
            <a:r>
              <a:rPr sz="1500" b="0" i="0">
                <a:solidFill>
                  <a:srgbClr val="5ED598"/>
                </a:solidFill>
                <a:latin typeface="Courier New"/>
              </a:rPr>
              <a:t>{"error": "ConnectionError: …"}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                   # the tool blew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The error goes back into the conversation — the model reads it and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fixes its next call</a:t>
            </a:r>
            <a:r>
              <a:rPr sz="1600" b="0" i="0">
                <a:solidFill>
                  <a:srgbClr val="5A647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AGENTS &amp; TOOLS —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6203A"/>
                </a:solidFill>
                <a:latin typeface="Arial"/>
              </a:rPr>
              <a:t>Tools return summaries — </a:t>
            </a:r>
            <a:r>
              <a:rPr sz="3200" b="1" i="0">
                <a:solidFill>
                  <a:srgbClr val="3B5BDB"/>
                </a:solidFill>
                <a:latin typeface="Arial"/>
              </a:rPr>
              <a:t>the data stays on disk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2011680"/>
            <a:ext cx="9326880" cy="265176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→ tool: </a:t>
            </a:r>
            <a:r>
              <a:rPr sz="1600" b="0" i="0">
                <a:solidFill>
                  <a:srgbClr val="7EA8FF"/>
                </a:solidFill>
                <a:latin typeface="Courier New"/>
              </a:rPr>
              <a:t>search_jobs</a:t>
            </a:r>
            <a:r>
              <a:rPr sz="1600" b="0" i="0">
                <a:solidFill>
                  <a:srgbClr val="E8ECF7"/>
                </a:solidFill>
                <a:latin typeface="Courier New"/>
              </a:rPr>
              <a:t>({"keywords": ["python"]})</a:t>
            </a:r>
          </a:p>
          <a:p>
            <a:pPr algn="l"/>
            <a:endParaRPr sz="1600" b="0" i="0">
              <a:solidFill>
                <a:srgbClr val="E8ECF7"/>
              </a:solidFill>
              <a:latin typeface="Courier New"/>
            </a:endParaRPr>
          </a:p>
          <a:p>
            <a:pPr algn="l"/>
            <a:r>
              <a:rPr sz="1600" b="0" i="0">
                <a:solidFill>
                  <a:srgbClr val="5ED598"/>
                </a:solidFill>
                <a:latin typeface="Courier New"/>
              </a:rPr>
              <a:t>  {"found": 14,</a:t>
            </a:r>
          </a:p>
          <a:p>
            <a:pPr algn="l"/>
            <a:r>
              <a:rPr sz="1600" b="0" i="0">
                <a:solidFill>
                  <a:srgbClr val="5ED598"/>
                </a:solidFill>
                <a:latin typeface="Courier New"/>
              </a:rPr>
              <a:t>   "cached_to": "~/.job_agent/jobs_cache.json",</a:t>
            </a:r>
          </a:p>
          <a:p>
            <a:pPr algn="l"/>
            <a:r>
              <a:rPr sz="1600" b="0" i="0">
                <a:solidFill>
                  <a:srgbClr val="5ED598"/>
                </a:solidFill>
                <a:latin typeface="Courier New"/>
              </a:rPr>
              <a:t>   "sample": ["Python Developer @ …", …]}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   # ~80 tokens</a:t>
            </a:r>
          </a:p>
          <a:p>
            <a:pPr algn="l"/>
            <a:endParaRPr sz="1600" b="0" i="0">
              <a:solidFill>
                <a:srgbClr val="8FA0C7"/>
              </a:solidFill>
              <a:latin typeface="Courier New"/>
            </a:endParaRP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  NOT the 14 full postings                    # ~15,000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10607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The full postings go to a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cache file</a:t>
            </a:r>
            <a:r>
              <a:rPr sz="2000" b="0" i="0">
                <a:solidFill>
                  <a:srgbClr val="16203A"/>
                </a:solidFill>
                <a:latin typeface="Arial"/>
              </a:rPr>
              <a:t>; the next tool reads the file, not the conversation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Every agent step stays small → fast, cheap, and inside the free tier's rate limits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06 · THE AGENT LOOP —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The agent loop,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step by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2103120"/>
            <a:ext cx="923544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1 · You ask in plain language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"find remote python jobs, show top 3"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182112"/>
            <a:ext cx="9235440" cy="932688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2 · The AI sees the six tool descriptions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and picks a tool + arguments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261104"/>
            <a:ext cx="923544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3 · Our code runs the real function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the AI only asks — it never executes anything itself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5340096"/>
            <a:ext cx="9235440" cy="932688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4 · Result goes back in; repeat until it can answer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06 · THE AGENT LOOP —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The entire agent is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~40 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965960"/>
            <a:ext cx="9966960" cy="41605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messages = [SYSTEM_PROMPT,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user_request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]</a:t>
            </a:r>
          </a:p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tools    =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registry.schemas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()</a:t>
            </a:r>
          </a:p>
          <a:p>
            <a:pPr algn="l"/>
            <a:endParaRPr sz="1500" b="0" i="0" dirty="0">
              <a:solidFill>
                <a:srgbClr val="E8ECF7"/>
              </a:solidFill>
              <a:latin typeface="Courier New"/>
            </a:endParaRPr>
          </a:p>
          <a:p>
            <a:pPr algn="l"/>
            <a:r>
              <a:rPr sz="1500" b="0" i="0" dirty="0">
                <a:solidFill>
                  <a:srgbClr val="7EA8FF"/>
                </a:solidFill>
                <a:latin typeface="Courier New"/>
              </a:rPr>
              <a:t>for _ in range(</a:t>
            </a:r>
            <a:r>
              <a:rPr sz="1500" b="0" i="0" dirty="0" err="1">
                <a:solidFill>
                  <a:srgbClr val="7EA8FF"/>
                </a:solidFill>
                <a:latin typeface="Courier New"/>
              </a:rPr>
              <a:t>max_steps</a:t>
            </a:r>
            <a:r>
              <a:rPr sz="1500" b="0" i="0" dirty="0">
                <a:solidFill>
                  <a:srgbClr val="7EA8FF"/>
                </a:solidFill>
                <a:latin typeface="Courier New"/>
              </a:rPr>
              <a:t>):</a:t>
            </a:r>
            <a:r>
              <a:rPr sz="1500" b="0" i="0" dirty="0">
                <a:solidFill>
                  <a:srgbClr val="8FA0C7"/>
                </a:solidFill>
                <a:latin typeface="Courier New"/>
              </a:rPr>
              <a:t>            # 8 — a hard budget</a:t>
            </a:r>
          </a:p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    msg =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llm.chat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(messages, tools=tools,</a:t>
            </a:r>
          </a:p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                  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tool_choice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="auto", temperature=0.2)</a:t>
            </a:r>
          </a:p>
          <a:p>
            <a:pPr algn="l"/>
            <a:r>
              <a:rPr sz="1500" b="0" i="0" dirty="0">
                <a:solidFill>
                  <a:srgbClr val="7EA8FF"/>
                </a:solidFill>
                <a:latin typeface="Courier New"/>
              </a:rPr>
              <a:t>    if not </a:t>
            </a:r>
            <a:r>
              <a:rPr sz="1500" b="0" i="0" dirty="0" err="1">
                <a:solidFill>
                  <a:srgbClr val="7EA8FF"/>
                </a:solidFill>
                <a:latin typeface="Courier New"/>
              </a:rPr>
              <a:t>msg.tool_calls</a:t>
            </a:r>
            <a:r>
              <a:rPr sz="1500" b="0" i="0" dirty="0">
                <a:solidFill>
                  <a:srgbClr val="7EA8FF"/>
                </a:solidFill>
                <a:latin typeface="Courier New"/>
              </a:rPr>
              <a:t>:</a:t>
            </a:r>
            <a:r>
              <a:rPr sz="1500" b="0" i="0" dirty="0">
                <a:solidFill>
                  <a:srgbClr val="8FA0C7"/>
                </a:solidFill>
                <a:latin typeface="Courier New"/>
              </a:rPr>
              <a:t>        # no tool wanted =</a:t>
            </a:r>
          </a:p>
          <a:p>
            <a:pPr algn="l"/>
            <a:r>
              <a:rPr sz="1500" b="0" i="0" dirty="0">
                <a:solidFill>
                  <a:srgbClr val="5ED598"/>
                </a:solidFill>
                <a:latin typeface="Courier New"/>
              </a:rPr>
              <a:t>        return </a:t>
            </a:r>
            <a:r>
              <a:rPr sz="1500" b="0" i="0" dirty="0" err="1">
                <a:solidFill>
                  <a:srgbClr val="5ED598"/>
                </a:solidFill>
                <a:latin typeface="Courier New"/>
              </a:rPr>
              <a:t>msg.content</a:t>
            </a:r>
            <a:r>
              <a:rPr sz="1500" b="0" i="0" dirty="0">
                <a:solidFill>
                  <a:srgbClr val="8FA0C7"/>
                </a:solidFill>
                <a:latin typeface="Courier New"/>
              </a:rPr>
              <a:t>         # the answer is ready</a:t>
            </a:r>
          </a:p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   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messages.append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(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assistant_turn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(msg))</a:t>
            </a:r>
          </a:p>
          <a:p>
            <a:pPr algn="l"/>
            <a:r>
              <a:rPr sz="1500" b="0" i="0" dirty="0">
                <a:solidFill>
                  <a:srgbClr val="7EA8FF"/>
                </a:solidFill>
                <a:latin typeface="Courier New"/>
              </a:rPr>
              <a:t>    for call in </a:t>
            </a:r>
            <a:r>
              <a:rPr sz="1500" b="0" i="0" dirty="0" err="1">
                <a:solidFill>
                  <a:srgbClr val="7EA8FF"/>
                </a:solidFill>
                <a:latin typeface="Courier New"/>
              </a:rPr>
              <a:t>msg.tool_calls</a:t>
            </a:r>
            <a:r>
              <a:rPr sz="1500" b="0" i="0" dirty="0">
                <a:solidFill>
                  <a:srgbClr val="7EA8FF"/>
                </a:solidFill>
                <a:latin typeface="Courier New"/>
              </a:rPr>
              <a:t>:</a:t>
            </a:r>
          </a:p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        result =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registry.dispatch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(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call.name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,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call.args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)</a:t>
            </a:r>
          </a:p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       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messages.append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({"role": "tool", "content": result})</a:t>
            </a:r>
          </a:p>
          <a:p>
            <a:pPr algn="l"/>
            <a:endParaRPr sz="1500" b="0" i="0" dirty="0">
              <a:solidFill>
                <a:srgbClr val="E8ECF7"/>
              </a:solidFill>
              <a:latin typeface="Courier New"/>
            </a:endParaRPr>
          </a:p>
          <a:p>
            <a:pPr algn="l"/>
            <a:r>
              <a:rPr sz="1500" b="0" i="0" dirty="0">
                <a:solidFill>
                  <a:srgbClr val="5ED598"/>
                </a:solidFill>
                <a:latin typeface="Courier New"/>
              </a:rPr>
              <a:t>return "Reached the step limit…"</a:t>
            </a:r>
            <a:r>
              <a:rPr sz="1500" b="0" i="0" dirty="0">
                <a:solidFill>
                  <a:srgbClr val="8FA0C7"/>
                </a:solidFill>
                <a:latin typeface="Courier New"/>
              </a:rPr>
              <a:t>   # can never run away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06 · THE AGENT LOOP —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The agent's memory is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just this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965960"/>
            <a:ext cx="9966960" cy="34290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[system]     </a:t>
            </a:r>
            <a:r>
              <a:rPr sz="1600" b="0" i="0">
                <a:solidFill>
                  <a:srgbClr val="E8ECF7"/>
                </a:solidFill>
                <a:latin typeface="Courier New"/>
              </a:rPr>
              <a:t>You are a job-application assistant…</a:t>
            </a: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[user]       </a:t>
            </a:r>
            <a:r>
              <a:rPr sz="1600" b="0" i="0">
                <a:solidFill>
                  <a:srgbClr val="5ED598"/>
                </a:solidFill>
                <a:latin typeface="Courier New"/>
              </a:rPr>
              <a:t>"find remote python jobs, show top 3"</a:t>
            </a: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[assistant]  </a:t>
            </a:r>
            <a:r>
              <a:rPr sz="1600" b="0" i="0">
                <a:solidFill>
                  <a:srgbClr val="7EA8FF"/>
                </a:solidFill>
                <a:latin typeface="Courier New"/>
              </a:rPr>
              <a:t>→ search_jobs</a:t>
            </a:r>
            <a:r>
              <a:rPr sz="1600" b="0" i="0">
                <a:solidFill>
                  <a:srgbClr val="E8ECF7"/>
                </a:solidFill>
                <a:latin typeface="Courier New"/>
              </a:rPr>
              <a:t>({"keywords": ["python"]})</a:t>
            </a: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[tool]       </a:t>
            </a:r>
            <a:r>
              <a:rPr sz="1600" b="0" i="0">
                <a:solidFill>
                  <a:srgbClr val="E8ECF7"/>
                </a:solidFill>
                <a:latin typeface="Courier New"/>
              </a:rPr>
              <a:t>{"found": 14, "sample": […]}</a:t>
            </a: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[assistant]  </a:t>
            </a:r>
            <a:r>
              <a:rPr sz="1600" b="0" i="0">
                <a:solidFill>
                  <a:srgbClr val="7EA8FF"/>
                </a:solidFill>
                <a:latin typeface="Courier New"/>
              </a:rPr>
              <a:t>→ rank_jobs</a:t>
            </a:r>
            <a:r>
              <a:rPr sz="1600" b="0" i="0">
                <a:solidFill>
                  <a:srgbClr val="E8ECF7"/>
                </a:solidFill>
                <a:latin typeface="Courier New"/>
              </a:rPr>
              <a:t>({"top": 3})</a:t>
            </a: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[tool]       </a:t>
            </a:r>
            <a:r>
              <a:rPr sz="1600" b="0" i="0">
                <a:solidFill>
                  <a:srgbClr val="E8ECF7"/>
                </a:solidFill>
                <a:latin typeface="Courier New"/>
              </a:rPr>
              <a:t>{"ranked": 14, "top": […]}</a:t>
            </a: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[assistant]  </a:t>
            </a:r>
            <a:r>
              <a:rPr sz="1600" b="0" i="0">
                <a:solidFill>
                  <a:srgbClr val="5ED598"/>
                </a:solidFill>
                <a:latin typeface="Courier New"/>
              </a:rPr>
              <a:t>"Your top 3 matches are: …"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   ← plain text: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778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The model is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stateless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— each step it re-reads this whole list and decides the next move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Nothing else persists between steps; when the list ends in plain text, the loop ends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06 · THE AGENT LOOP —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A real recorded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57400"/>
            <a:ext cx="9966960" cy="41148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700" b="0" i="0">
                <a:solidFill>
                  <a:srgbClr val="E8ECF7"/>
                </a:solidFill>
                <a:latin typeface="Courier New"/>
              </a:rPr>
              <a:t>$ agent </a:t>
            </a:r>
            <a:r>
              <a:rPr sz="1700" b="0" i="0">
                <a:solidFill>
                  <a:srgbClr val="5ED598"/>
                </a:solidFill>
                <a:latin typeface="Courier New"/>
              </a:rPr>
              <a:t>"find remote python jobs,</a:t>
            </a:r>
          </a:p>
          <a:p>
            <a:pPr algn="l"/>
            <a:r>
              <a:rPr sz="1700" b="0" i="0">
                <a:solidFill>
                  <a:srgbClr val="5ED598"/>
                </a:solidFill>
                <a:latin typeface="Courier New"/>
              </a:rPr>
              <a:t>         show top 3, don't apply"</a:t>
            </a:r>
          </a:p>
          <a:p>
            <a:pPr algn="l"/>
            <a:endParaRPr sz="1700" b="0" i="0">
              <a:solidFill>
                <a:srgbClr val="5ED598"/>
              </a:solidFill>
              <a:latin typeface="Courier New"/>
            </a:endParaRPr>
          </a:p>
          <a:p>
            <a:pPr algn="l"/>
            <a:r>
              <a:rPr sz="1700" b="0" i="0">
                <a:solidFill>
                  <a:srgbClr val="E8ECF7"/>
                </a:solidFill>
                <a:latin typeface="Courier New"/>
              </a:rPr>
              <a:t>→ tool: </a:t>
            </a:r>
            <a:r>
              <a:rPr sz="1700" b="0" i="0">
                <a:solidFill>
                  <a:srgbClr val="7EA8FF"/>
                </a:solidFill>
                <a:latin typeface="Courier New"/>
              </a:rPr>
              <a:t>search_jobs</a:t>
            </a:r>
            <a:r>
              <a:rPr sz="1700" b="0" i="0">
                <a:solidFill>
                  <a:srgbClr val="E8ECF7"/>
                </a:solidFill>
                <a:latin typeface="Courier New"/>
              </a:rPr>
              <a:t>({"keywords": ["python"],</a:t>
            </a:r>
          </a:p>
          <a:p>
            <a:pPr algn="l"/>
            <a:r>
              <a:rPr sz="1700" b="0" i="0">
                <a:solidFill>
                  <a:srgbClr val="E8ECF7"/>
                </a:solidFill>
                <a:latin typeface="Courier New"/>
              </a:rPr>
              <a:t>               "remote": true})</a:t>
            </a:r>
          </a:p>
          <a:p>
            <a:pPr algn="l"/>
            <a:r>
              <a:rPr sz="1700" b="0" i="0">
                <a:solidFill>
                  <a:srgbClr val="8FA0C7"/>
                </a:solidFill>
                <a:latin typeface="Courier New"/>
              </a:rPr>
              <a:t>   {"found": 14, ...}</a:t>
            </a:r>
          </a:p>
          <a:p>
            <a:pPr algn="l"/>
            <a:r>
              <a:rPr sz="1700" b="0" i="0">
                <a:solidFill>
                  <a:srgbClr val="E8ECF7"/>
                </a:solidFill>
                <a:latin typeface="Courier New"/>
              </a:rPr>
              <a:t>→ tool: </a:t>
            </a:r>
            <a:r>
              <a:rPr sz="1700" b="0" i="0">
                <a:solidFill>
                  <a:srgbClr val="7EA8FF"/>
                </a:solidFill>
                <a:latin typeface="Courier New"/>
              </a:rPr>
              <a:t>rank_jobs</a:t>
            </a:r>
            <a:r>
              <a:rPr sz="1700" b="0" i="0">
                <a:solidFill>
                  <a:srgbClr val="E8ECF7"/>
                </a:solidFill>
                <a:latin typeface="Courier New"/>
              </a:rPr>
              <a:t>({"top": 3})</a:t>
            </a:r>
          </a:p>
          <a:p>
            <a:pPr algn="l"/>
            <a:r>
              <a:rPr sz="1700" b="0" i="0">
                <a:solidFill>
                  <a:srgbClr val="8FA0C7"/>
                </a:solidFill>
                <a:latin typeface="Courier New"/>
              </a:rPr>
              <a:t>   {"ranked": 14, ...}</a:t>
            </a:r>
          </a:p>
          <a:p>
            <a:pPr algn="l"/>
            <a:r>
              <a:rPr sz="1700" b="0" i="0">
                <a:solidFill>
                  <a:srgbClr val="E8ECF7"/>
                </a:solidFill>
                <a:latin typeface="Courier New"/>
              </a:rPr>
              <a:t>→ tool: </a:t>
            </a:r>
            <a:r>
              <a:rPr sz="1700" b="0" i="0">
                <a:solidFill>
                  <a:srgbClr val="7EA8FF"/>
                </a:solidFill>
                <a:latin typeface="Courier New"/>
              </a:rPr>
              <a:t>list_ranked</a:t>
            </a:r>
            <a:r>
              <a:rPr sz="1700" b="0" i="0">
                <a:solidFill>
                  <a:srgbClr val="E8ECF7"/>
                </a:solidFill>
                <a:latin typeface="Courier New"/>
              </a:rPr>
              <a:t>({"top": 3})</a:t>
            </a:r>
          </a:p>
          <a:p>
            <a:pPr algn="l"/>
            <a:endParaRPr sz="1700" b="0" i="0">
              <a:solidFill>
                <a:srgbClr val="E8ECF7"/>
              </a:solidFill>
              <a:latin typeface="Courier New"/>
            </a:endParaRPr>
          </a:p>
          <a:p>
            <a:pPr algn="l"/>
            <a:r>
              <a:rPr sz="1700" b="0" i="0">
                <a:solidFill>
                  <a:srgbClr val="5ED598"/>
                </a:solidFill>
                <a:latin typeface="Courier New"/>
              </a:rPr>
              <a:t>"Your top 3 matches are: …"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08 · THE AI CAST —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Six specialists,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not one genius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Ranker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reads a posting like a recruiter; judges fit 0–100 with strengths &amp;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39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Tailor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rewrites resume + cover letter for one job, in the posting's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8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Answerer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answers any form question from your profile — or honestly says “not in profile”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Each gets one narrow prompt and returns structured JSON — nothing free-form.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08 · THE AI CAST —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…and the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quality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Reviewer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hunts invented facts, wrong company, wrong language in every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39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Repairer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rewrites only what the Reviewer flagged — keeps the 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8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Company Scout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proposes employers in your country — each verified against real career APIs before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The AI can propose; reality decides. Nothing unverified reaches you.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08 · THE AI CAST —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6203A"/>
                </a:solidFill>
                <a:latin typeface="Arial"/>
              </a:rPr>
              <a:t>Anatomy of a specialist: the Tailor's </a:t>
            </a:r>
            <a:r>
              <a:rPr sz="3200" b="1" i="0">
                <a:solidFill>
                  <a:srgbClr val="3B5BDB"/>
                </a:solidFill>
                <a:latin typeface="Arial"/>
              </a:rPr>
              <a:t>cage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1874519"/>
            <a:ext cx="9326880" cy="23317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500" b="0" i="0">
                <a:solidFill>
                  <a:srgbClr val="E8ECF7"/>
                </a:solidFill>
                <a:latin typeface="Courier New"/>
              </a:rPr>
              <a:t>ROLES (index in brackets):</a:t>
            </a:r>
          </a:p>
          <a:p>
            <a:pPr algn="l"/>
            <a:r>
              <a:rPr sz="1500" b="0" i="0">
                <a:solidFill>
                  <a:srgbClr val="7EA8FF"/>
                </a:solidFill>
                <a:latin typeface="Courier New"/>
              </a:rPr>
              <a:t>[0]</a:t>
            </a:r>
            <a:r>
              <a:rPr sz="1500" b="0" i="0">
                <a:solidFill>
                  <a:srgbClr val="E8ECF7"/>
                </a:solidFill>
                <a:latin typeface="Courier New"/>
              </a:rPr>
              <a:t> Backend Developer at Acme (2022–Present); tech: Python…</a:t>
            </a:r>
          </a:p>
          <a:p>
            <a:pPr algn="l"/>
            <a:r>
              <a:rPr sz="1500" b="0" i="0">
                <a:solidFill>
                  <a:srgbClr val="7EA8FF"/>
                </a:solidFill>
                <a:latin typeface="Courier New"/>
              </a:rPr>
              <a:t>[1]</a:t>
            </a:r>
            <a:r>
              <a:rPr sz="1500" b="0" i="0">
                <a:solidFill>
                  <a:srgbClr val="E8ECF7"/>
                </a:solidFill>
                <a:latin typeface="Courier New"/>
              </a:rPr>
              <a:t> QA Engineer at Initech (2019–2022); tech: SQL…</a:t>
            </a:r>
          </a:p>
          <a:p>
            <a:pPr algn="l"/>
            <a:endParaRPr sz="1500" b="0" i="0">
              <a:solidFill>
                <a:srgbClr val="E8ECF7"/>
              </a:solidFill>
              <a:latin typeface="Courier New"/>
            </a:endParaRPr>
          </a:p>
          <a:p>
            <a:pPr algn="l"/>
            <a:r>
              <a:rPr sz="1500" b="0" i="0">
                <a:solidFill>
                  <a:srgbClr val="8FA0C7"/>
                </a:solidFill>
                <a:latin typeface="Courier New"/>
              </a:rPr>
              <a:t>→ bullets must come back keyed by those indexes:</a:t>
            </a:r>
          </a:p>
          <a:p>
            <a:pPr algn="l"/>
            <a:r>
              <a:rPr sz="1500" b="0" i="0">
                <a:solidFill>
                  <a:srgbClr val="5ED598"/>
                </a:solidFill>
                <a:latin typeface="Courier New"/>
              </a:rPr>
              <a:t>  "experience_bullets": {"0": […], "1": […]}</a:t>
            </a:r>
          </a:p>
          <a:p>
            <a:pPr algn="l"/>
            <a:r>
              <a:rPr sz="1500" b="0" i="0">
                <a:solidFill>
                  <a:srgbClr val="8FA0C7"/>
                </a:solidFill>
                <a:latin typeface="Courier New"/>
              </a:rPr>
              <a:t>  a job that doesn't exist has no index to hang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607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1900" b="0" i="0">
                <a:solidFill>
                  <a:srgbClr val="16203A"/>
                </a:solidFill>
                <a:latin typeface="Arial"/>
              </a:rPr>
              <a:t>Rules first: </a:t>
            </a:r>
            <a:r>
              <a:rPr sz="1900" b="1" i="0">
                <a:solidFill>
                  <a:srgbClr val="16203A"/>
                </a:solidFill>
                <a:latin typeface="Arial"/>
              </a:rPr>
              <a:t>“Use ONLY facts present in the profile. Never invent employers, titles, dates, degrees…”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1900" b="0" i="0">
                <a:solidFill>
                  <a:srgbClr val="16203A"/>
                </a:solidFill>
                <a:latin typeface="Arial"/>
              </a:rPr>
              <a:t>The output language is spelled out (“OUTPUT LANGUAGE: Hebrew”) — “match the posting” alone gets ignored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1900" b="0" i="0">
                <a:solidFill>
                  <a:srgbClr val="16203A"/>
                </a:solidFill>
                <a:latin typeface="Arial"/>
              </a:rPr>
              <a:t>Temperature ladder: Reviewer </a:t>
            </a:r>
            <a:r>
              <a:rPr sz="1900" b="1" i="0">
                <a:solidFill>
                  <a:srgbClr val="16203A"/>
                </a:solidFill>
                <a:latin typeface="Arial"/>
              </a:rPr>
              <a:t>0.1</a:t>
            </a:r>
            <a:r>
              <a:rPr sz="1900" b="0" i="0">
                <a:solidFill>
                  <a:srgbClr val="16203A"/>
                </a:solidFill>
                <a:latin typeface="Arial"/>
              </a:rPr>
              <a:t>  ·  Ranker </a:t>
            </a:r>
            <a:r>
              <a:rPr sz="1900" b="1" i="0">
                <a:solidFill>
                  <a:srgbClr val="16203A"/>
                </a:solidFill>
                <a:latin typeface="Arial"/>
              </a:rPr>
              <a:t>0.2</a:t>
            </a:r>
            <a:r>
              <a:rPr sz="1900" b="0" i="0">
                <a:solidFill>
                  <a:srgbClr val="16203A"/>
                </a:solidFill>
                <a:latin typeface="Arial"/>
              </a:rPr>
              <a:t>  ·  Tailor </a:t>
            </a:r>
            <a:r>
              <a:rPr sz="1900" b="1" i="0">
                <a:solidFill>
                  <a:srgbClr val="16203A"/>
                </a:solidFill>
                <a:latin typeface="Arial"/>
              </a:rPr>
              <a:t>0.35</a:t>
            </a:r>
            <a:r>
              <a:rPr sz="1900" b="0" i="0">
                <a:solidFill>
                  <a:srgbClr val="16203A"/>
                </a:solidFill>
                <a:latin typeface="Arial"/>
              </a:rPr>
              <a:t> — creativity only where it's safe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09 · MULTI-AGENT QUALITY GATE —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Writer → Critic →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Tailor writes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draft resume + letter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7822" y="3127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86150" y="246888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Reviewer checks every claim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your profile is the only source of truth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8172" y="3127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86500" y="246888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Repairer fixes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only the flagged problems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8522" y="3127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6850" y="246888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It ships</a:t>
            </a:r>
          </a:p>
          <a:p>
            <a:pPr algn="ctr"/>
            <a:r>
              <a:rPr sz="1300" b="0" i="0">
                <a:solidFill>
                  <a:srgbClr val="B9C2D8"/>
                </a:solidFill>
                <a:latin typeface="Arial"/>
              </a:rPr>
              <a:t>clean documents + PDFs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09 · MULTI-AGENT QUALITY GATE —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6203A"/>
                </a:solidFill>
                <a:latin typeface="Arial"/>
              </a:rPr>
              <a:t>Catching </a:t>
            </a:r>
            <a:r>
              <a:rPr sz="3800" b="1" i="0">
                <a:solidFill>
                  <a:srgbClr val="3B5BDB"/>
                </a:solidFill>
                <a:latin typeface="Arial"/>
              </a:rPr>
              <a:t>AI lies</a:t>
            </a:r>
            <a:r>
              <a:rPr sz="3800" b="1" i="0">
                <a:solidFill>
                  <a:srgbClr val="16203A"/>
                </a:solidFill>
                <a:latin typeface="Arial"/>
              </a:rPr>
              <a:t> — a real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B3251E"/>
                </a:solidFill>
                <a:latin typeface="Arial"/>
              </a:rPr>
              <a:t>CAUGHT IN TESTING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16203A"/>
                </a:solidFill>
                <a:latin typeface="Arial"/>
              </a:rPr>
              <a:t>The draft claimed a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PhD in Physics</a:t>
            </a:r>
            <a:r>
              <a:rPr sz="2400" b="0" i="0">
                <a:solidFill>
                  <a:srgbClr val="16203A"/>
                </a:solidFill>
                <a:latin typeface="Arial"/>
              </a:rPr>
              <a:t>,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“10 years of experience”</a:t>
            </a:r>
            <a:r>
              <a:rPr sz="2400" b="0" i="0">
                <a:solidFill>
                  <a:srgbClr val="16203A"/>
                </a:solidFill>
                <a:latin typeface="Arial"/>
              </a:rPr>
              <a:t>, a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Nobel Prize</a:t>
            </a:r>
            <a:r>
              <a:rPr sz="2400" b="0" i="0">
                <a:solidFill>
                  <a:srgbClr val="16203A"/>
                </a:solidFill>
                <a:latin typeface="Arial"/>
              </a:rPr>
              <a:t> — and addressed the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wrong company</a:t>
            </a:r>
          </a:p>
          <a:p>
            <a:pPr>
              <a:spcBef>
                <a:spcPts val="2600"/>
              </a:spcBef>
            </a:pPr>
            <a:r>
              <a:rPr sz="2000" b="1" i="0">
                <a:solidFill>
                  <a:srgbClr val="14804A"/>
                </a:solidFill>
                <a:latin typeface="Arial"/>
              </a:rPr>
              <a:t>AFTER REPAIR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16203A"/>
                </a:solidFill>
                <a:latin typeface="Arial"/>
              </a:rPr>
              <a:t>5 of 5 issues removed — the re-review came back clean 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3B5BDB"/>
                </a:solidFill>
                <a:latin typeface="Courier New"/>
              </a:rPr>
              <a:t>09 · MULTI-AGENT QUALITY GATE —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One click,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end to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POST /api/apply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the button's only job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7822" y="253288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86150" y="2057400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Tailor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· temp 0.35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8172" y="253288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86500" y="2057400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Review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· temp 0.1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8522" y="253288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6850" y="2057400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Repair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· only if flagged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76975" y="3364992"/>
            <a:ext cx="237744" cy="274320"/>
          </a:xfrm>
          <a:prstGeom prst="down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3749039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Render documents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code · templates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47822" y="4224527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86150" y="3749039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Your Chrome, headless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HTML → PDF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48172" y="4224527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86500" y="3749039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answers.json + tracker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code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48522" y="4224527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86850" y="3749039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Packet in the UI</a:t>
            </a:r>
          </a:p>
          <a:p>
            <a:pPr algn="ctr"/>
            <a:r>
              <a:rPr sz="1200" b="0" i="0">
                <a:solidFill>
                  <a:srgbClr val="B9C2D8"/>
                </a:solidFill>
                <a:latin typeface="Arial"/>
              </a:rPr>
              <a:t>copy buttons &amp;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1900" b="0" i="0">
                <a:solidFill>
                  <a:srgbClr val="16203A"/>
                </a:solidFill>
                <a:latin typeface="Arial"/>
              </a:rPr>
              <a:t>Each phase reports progress — that's the live ticker you saw in the demo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1900" b="0" i="0">
                <a:solidFill>
                  <a:srgbClr val="16203A"/>
                </a:solidFill>
                <a:latin typeface="Arial"/>
              </a:rPr>
              <a:t>Every AI step degrades gracefully: </a:t>
            </a:r>
            <a:r>
              <a:rPr sz="1900" b="1" i="0">
                <a:solidFill>
                  <a:srgbClr val="16203A"/>
                </a:solidFill>
                <a:latin typeface="Arial"/>
              </a:rPr>
              <a:t>tailor fails → untailored resume · review fails → draft kept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10 ·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Autonomous,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not reckless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5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Documents may only use facts </a:t>
            </a:r>
            <a:r>
              <a:rPr sz="2500" b="1" i="0">
                <a:solidFill>
                  <a:srgbClr val="16203A"/>
                </a:solidFill>
                <a:latin typeface="Arial"/>
              </a:rPr>
              <a:t>from your profile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Every packet is fact-checked by a second AI pass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AI-suggested companies are </a:t>
            </a:r>
            <a:r>
              <a:rPr sz="2500" b="1" i="0">
                <a:solidFill>
                  <a:srgbClr val="16203A"/>
                </a:solidFill>
                <a:latin typeface="Arial"/>
              </a:rPr>
              <a:t>verified against real APIs</a:t>
            </a:r>
            <a:r>
              <a:rPr sz="2500" b="0" i="0">
                <a:solidFill>
                  <a:srgbClr val="16203A"/>
                </a:solidFill>
                <a:latin typeface="Arial"/>
              </a:rPr>
              <a:t> before use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It never clicks Submit — </a:t>
            </a:r>
            <a:r>
              <a:rPr sz="2500" b="1" i="0">
                <a:solidFill>
                  <a:srgbClr val="16203A"/>
                </a:solidFill>
                <a:latin typeface="Arial"/>
              </a:rPr>
              <a:t>ever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Your data and API key stay on </a:t>
            </a:r>
            <a:r>
              <a:rPr sz="2500" b="1" i="0">
                <a:solidFill>
                  <a:srgbClr val="16203A"/>
                </a:solidFill>
                <a:latin typeface="Arial"/>
              </a:rPr>
              <a:t>your</a:t>
            </a:r>
            <a:r>
              <a:rPr sz="2500" b="0" i="0">
                <a:solidFill>
                  <a:srgbClr val="16203A"/>
                </a:solidFill>
                <a:latin typeface="Arial"/>
              </a:rPr>
              <a:t> machine or browser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11 · THE FORM-FILLER —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It fills the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real</a:t>
            </a:r>
            <a:r>
              <a:rPr sz="3400" b="1" i="0">
                <a:solidFill>
                  <a:srgbClr val="16203A"/>
                </a:solidFill>
                <a:latin typeface="Arial"/>
              </a:rPr>
              <a:t> application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2416302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Detect the form system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Greenhouse / Lever — aggregator links traced to the real form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7822" y="31729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86150" y="2468880"/>
            <a:ext cx="2416302" cy="164592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Open your Chrome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a script lists every field on the page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8172" y="31729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86500" y="2468880"/>
            <a:ext cx="2416302" cy="164592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Fill + upload resume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code for standard fields, AI for open questions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8522" y="31729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6850" y="2468880"/>
            <a:ext cx="2416302" cy="164592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STOP</a:t>
            </a:r>
          </a:p>
          <a:p>
            <a:pPr algn="ctr"/>
            <a:r>
              <a:rPr sz="1300" b="0" i="0">
                <a:solidFill>
                  <a:srgbClr val="B9C2D8"/>
                </a:solidFill>
                <a:latin typeface="Arial"/>
              </a:rPr>
              <a:t>gaps highlighted — you review and submit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11 · THE FORM-FILLER —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A real form,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really filled</a:t>
            </a:r>
          </a:p>
        </p:txBody>
      </p:sp>
      <p:pic>
        <p:nvPicPr>
          <p:cNvPr id="4" name="Picture 3" descr="pres-autofi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77" y="1920240"/>
            <a:ext cx="6668740" cy="4480560"/>
          </a:xfrm>
          <a:prstGeom prst="rect">
            <a:avLst/>
          </a:prstGeom>
          <a:ln w="19050">
            <a:solidFill>
              <a:srgbClr val="D8DDE8"/>
            </a:solidFill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12 · WHERE THE JOBS COME FROM —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9 public boards,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searched at 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94560"/>
            <a:ext cx="10817352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Always on — no keys, no accounts</a:t>
            </a:r>
          </a:p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Remotive · RemoteOK · Arbeitnow · Jobicy · Himalayas · WeWorkRemotely · Hacker News “Who is hiring” · The Muse · Working Nomads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206240"/>
            <a:ext cx="10817352" cy="146304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Optional aggregators (free keys in Settings)</a:t>
            </a:r>
          </a:p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Jooble — ~69 countries incl. Israel · Adzuna — 20 countries of local on-site jobs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12 · WHERE THE JOBS COME FROM —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…plus your country's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actual companies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94560"/>
            <a:ext cx="10817352" cy="17373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Automatic from your profile's country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109 verified employers shipped for 9 countries. Israel: NICE · Via · Cato · Gong · Similarweb · Taboola · JFrog · Fireblocks · AppsFlyer … (29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206240"/>
            <a:ext cx="10817352" cy="146304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Unknown country? The AI scouts it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AI proposes employers → each verified against real career APIs → cached 30 days. Spain test: Cabify, Typeform, Wallapop — 83 real openings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12 · WHERE THE JOBS COME FROM —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6203A"/>
                </a:solidFill>
                <a:latin typeface="Arial"/>
              </a:rPr>
              <a:t>Inside the </a:t>
            </a:r>
            <a:r>
              <a:rPr sz="3600" b="1" i="0">
                <a:solidFill>
                  <a:srgbClr val="3B5BDB"/>
                </a:solidFill>
                <a:latin typeface="Arial"/>
              </a:rPr>
              <a:t>scraper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One small fetcher per source — 12 of them — each normalizing into the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same Job record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A dead API prints a warning and returns nothing —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the search itself never fails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Company career boards fan out on a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10-thread pool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— up to 30 boards per search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Boards' own search is unreliable, so relevance is scored client-side: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title hit &gt; tag hit &gt; description hit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Dedupe by URL and title+company; company jobs capped to half the list,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round-robin per employer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The fetchers are the easy part —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the aggregation layer is where quality happens</a:t>
            </a:r>
            <a:r>
              <a:rPr sz="1600" b="0" i="0">
                <a:solidFill>
                  <a:srgbClr val="5A647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16 ·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Small system,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real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0312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10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job sources searched in one pass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10312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109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verified company boards · 9 countries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210312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~15s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per tailored application (2 in parallel)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6908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5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AI calls per application — incl. fact-check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06908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21×2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automated end-to-end checks, desktop + hosted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406908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0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frameworks: Flask + vanilla JS + Playwright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463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 i="0">
                <a:solidFill>
                  <a:srgbClr val="16203A"/>
                </a:solidFill>
                <a:latin typeface="Arial"/>
              </a:rPr>
              <a:t>Questions</a:t>
            </a:r>
            <a:r>
              <a:rPr sz="8000" b="1" i="0">
                <a:solidFill>
                  <a:srgbClr val="3B5BDB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6203A"/>
                </a:solidFill>
                <a:latin typeface="Arial"/>
              </a:rPr>
              <a:t>github.com/DavidZeff1/agent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5A6478"/>
                </a:solidFill>
                <a:latin typeface="Arial"/>
              </a:rPr>
              <a:t>Python · Flask · Groq (llama-3.3-70b) · Playwright · your own Chrome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3855</Words>
  <Application>Microsoft Macintosh PowerPoint</Application>
  <PresentationFormat>Widescreen</PresentationFormat>
  <Paragraphs>362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zeff</cp:lastModifiedBy>
  <cp:revision>4</cp:revision>
  <dcterms:created xsi:type="dcterms:W3CDTF">2013-01-27T09:14:16Z</dcterms:created>
  <dcterms:modified xsi:type="dcterms:W3CDTF">2026-07-05T16:53:08Z</dcterms:modified>
  <cp:category/>
</cp:coreProperties>
</file>