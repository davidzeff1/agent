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668"/>
  </p:normalViewPr>
  <p:slideViewPr>
    <p:cSldViewPr snapToGrid="0" snapToObjects="1">
      <p:cViewPr varScale="1">
        <p:scale>
          <a:sx n="119" d="100"/>
          <a:sy n="119" d="100"/>
        </p:scale>
        <p:origin x="21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0504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yourself. One sentence: this is an AI agent that automates the repetitive 95% of job applications, and the demo is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Everyone in the room has felt this. The point: none of these steps require human judgment except deciding to apply.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pipeline in one line. Emphasize the last box: the human only does the final click — by design, not as a limitation.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Switch to the app now: Job Agent.command must be running. Show these four things in order, then come back to the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Ranked results. Point at the match score, the plain-language reasons, and Israeli company jobs (Cato, Via, Similarweb) pulled directly from career pages.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prepared application: tailored PDF resume, cover letter, and copy buttons for every form answer. Note the fact-checked line in the header.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Architecture part 1: three doors into the same engine. Users click, scripts type, or you just ask in plain language.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Architecture part 2: the tool registry is the key design move — every capability defined once, callable by code or by the AI. Below it, five focused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Architecture part 3: everything external the engine talks to. Note: the LLM is just one of four external services — not the center of the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Architecture principle: no orchestrator agent. The flow is plain code; the LLM is used only at the points that need judgment. Each AI step can fail and the pipeline still completes.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principle made concrete with ranking: transparent math scores every job (weights on screen), the AI re-ranks only the top 10, and the final score is a 50/50 blend. If the AI call fails, the math score simply stands.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What a tool literally is: a JSON description the AI can read, plus the real Python function. This is the actual search_jobs tool from the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that a tool is not magic: one dataclass with four fields, and a registry that is literally a dict. to_schema() emits exactly the shape the LLM API expects. The whole tool system is about 60 lines of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design move: the same six tools serve two callers. Buttons call them in a fixed order; the AI chooses freely in agent mode. Tools return short summaries to keep the model focused.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Demystify tool calling: the model only ever outputs text — a tool name plus arguments as a JSON string. dispatch() runs the real function, and every possible failure goes back to the model as a JSON error message it can read and correct. Errors are feedback, not crashes.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Context economics: the search tool answers with a count and eight sample titles (~80 tokens), not 14 full postings (~15,000 tokens). The big data goes to a file on disk; the next tool reads the file, not the chat. This keeps every agent step fast, cheap, and inside free-tier rate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agent loop in four steps. Key point on step 3: the AI never runs anything itself — it asks, our code executes, and the result is fed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whole agent fits on one slide — agent.py is 87 lines in the repo including documentation. Point at max_steps (a hard budget: it can never loop forever) and at the exit condition: no tool calls means the model answered in plain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key mental model: the LLM itself is stateless. This growing list of messages IS the agent's memory — every iteration replays the whole list, and the model picks the next move. When it ends in plain text instead of a tool call, the loop is 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same loop, recorded for real: three tool calls, then a plain-text answer. This trace is from an actual run of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Free-tier reality: Groq budgets both requests AND tokens per minute. So one thin wrapper makes every AI call: a process-wide throttle (one clock shared by all threads), exponential backoff that honors the server's Retry-After header, and retries only for genuinely retryable errors.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How structured output is forced from a prose model, in four rungs: ask in the prompt, enforce with the API's JSON mode, retry without it when Hebrew quotes break validation, then a repair parser. Only if all four fail does the step fall back — nothing ever crashes.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Six specialists instead of one giant prompt — part 1: the three everyday workers. Each has one narrow prompt, one job, its own guardrail.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Part 2: the quality pair that checks the writer's work (green), and the scout that finds employers in your country — every suggestion verified against real APIs.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anti-hallucination cage inside the writer's prompt: experience is sent as a numbered list, and bullets must come back keyed by those numbers — an invented job has no index to hang on. The output language is named explicitly, and temperature drops as the job gets stricter: writer 0.35, judge 0.2, critic 0.1.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multi-agent quality gate: every prepared application passes writer, then critic, then fixer — before you ever see it. The profile is the only source of truth.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Tell the story: we planted a fake PhD, fake years, a Nobel Prize, and the wrong company. The reviewer caught all five; after repair, the re-check came back clean.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Everything behind the Prepare button: at most three AI calls (repair only runs if the reviewer flagged something) — the rest is plain code. The progress ticker in the demo is these phases reporting live. Every AI step has a fallback: tailor fails → untailored resume; review fails → draft kept; repair fails → original kept.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Safety by construction: grounded generation, a second AI pass on everything, verified discovery, and a hard rule — the software cannot click Submit.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form-filler agent, step by step. Plain code answers standard fields; the AI answers open questions; and it always stops before Submit.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Proof on a real company's form (GitLab): name, email, phone filled, resume attached — and the green banner reminding you the last click is yours.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Form-filler internals: one worker thread owns the browser because Playwright's sync API is thread-bound; a persistent Chrome profile keeps logins between runs; aggregator links are resolved by regex-hunting the real ATS URL in the page; answers go cheapest-first with a hard budget of 8 AI calls per form; and no code path clicks Submit.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Where the jobs come from, part 1: nine public job boards searched in parallel, plus two optional aggregators unlocked with free keys.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Part 2: the country layer. 109 verified company boards ship with the app (29 Israeli). For any other country, the AI proposes employers and each one is verified live, then cached.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Scraper internals: 12 small fetchers all normalize into one Job record; each isolates its own failures so a dead API never kills the search; up to 30 company boards are fetched on a 10-thread pool; relevance is scored client-side title-first because boards' own search is unreliable; then dedupe and a round-robin cap keep variety.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Language follows the posting, not the profile. Hebrew needed real bidi work — and Hebrew quote marks even broke the model's JSON until we added a repair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 database: the entire state is a readable folder of JSON files — which is also why tools can answer with tiny summaries; the data sits in files between stages. Everything is debuggable with a text editor. Hosted mode swaps this folder for the visitor's browser storage and the server stays stateless.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Same codebase, one flag. Desktop has the machine-bound powers; the hosted version is stateless — each visitor's data lives in their own browser.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the technical story with scale and rigor: parallel preparation, five AI calls per application including the fact-check, and a 21-check automated E2E in both modes.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Q&amp;A. If asked about code: github.com/DavidZeff1/agent — the README documents the architecture and design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FINAL PROJECT · AI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0" b="1" i="0">
                <a:solidFill>
                  <a:srgbClr val="16203A"/>
                </a:solidFill>
                <a:latin typeface="Arial"/>
              </a:rPr>
              <a:t>Job </a:t>
            </a:r>
            <a:r>
              <a:rPr sz="8000" b="1" i="0">
                <a:solidFill>
                  <a:srgbClr val="3B5BDB"/>
                </a:solidFill>
                <a:latin typeface="Arial"/>
              </a:rPr>
              <a:t>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5661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 i="0">
                <a:solidFill>
                  <a:srgbClr val="16203A"/>
                </a:solidFill>
                <a:latin typeface="Arial"/>
              </a:rPr>
              <a:t>An AI agent that does the boring 95% of job hunting —
and leaves the final </a:t>
            </a:r>
            <a:r>
              <a:rPr sz="2600" b="1" i="0">
                <a:solidFill>
                  <a:srgbClr val="16203A"/>
                </a:solidFill>
                <a:latin typeface="Arial"/>
              </a:rPr>
              <a:t>Submit</a:t>
            </a:r>
            <a:r>
              <a:rPr sz="2600" b="0" i="0">
                <a:solidFill>
                  <a:srgbClr val="16203A"/>
                </a:solidFill>
                <a:latin typeface="Arial"/>
              </a:rPr>
              <a:t> click to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760720"/>
            <a:ext cx="10058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 dirty="0">
                <a:solidFill>
                  <a:srgbClr val="5A6478"/>
                </a:solidFill>
                <a:latin typeface="Arial"/>
              </a:rPr>
              <a:t>David Zeff</a:t>
            </a:r>
            <a:r>
              <a:rPr lang="en-US" sz="1700" dirty="0">
                <a:solidFill>
                  <a:srgbClr val="5A6478"/>
                </a:solidFill>
                <a:latin typeface="Arial"/>
              </a:rPr>
              <a:t> - Fatema Othman</a:t>
            </a:r>
            <a:r>
              <a:rPr sz="1700" b="0" i="0" dirty="0">
                <a:solidFill>
                  <a:srgbClr val="5A6478"/>
                </a:solidFill>
                <a:latin typeface="Arial"/>
              </a:rPr>
              <a:t> ·  Python + Flask + </a:t>
            </a:r>
            <a:r>
              <a:rPr sz="1700" b="0" i="0" dirty="0" err="1">
                <a:solidFill>
                  <a:srgbClr val="5A6478"/>
                </a:solidFill>
                <a:latin typeface="Arial"/>
              </a:rPr>
              <a:t>Groq</a:t>
            </a:r>
            <a:r>
              <a:rPr sz="1700" b="0" i="0" dirty="0">
                <a:solidFill>
                  <a:srgbClr val="5A6478"/>
                </a:solidFill>
                <a:latin typeface="Arial"/>
              </a:rPr>
              <a:t> LLM  ·  live demo included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01 ·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16203A"/>
                </a:solidFill>
                <a:latin typeface="Arial"/>
              </a:rPr>
              <a:t>Applying to jobs is the same hour,
</a:t>
            </a:r>
            <a:r>
              <a:rPr sz="4000" b="1" i="0">
                <a:solidFill>
                  <a:srgbClr val="3B5BDB"/>
                </a:solidFill>
                <a:latin typeface="Arial"/>
              </a:rPr>
              <a:t>again and again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34640"/>
            <a:ext cx="106070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600" b="1" i="0">
                <a:solidFill>
                  <a:srgbClr val="B3251E"/>
                </a:solidFill>
                <a:latin typeface="Arial"/>
              </a:rPr>
              <a:t>✕  </a:t>
            </a:r>
            <a:r>
              <a:rPr sz="2600" b="0" i="0">
                <a:solidFill>
                  <a:srgbClr val="16203A"/>
                </a:solidFill>
                <a:latin typeface="Arial"/>
              </a:rPr>
              <a:t>Search five job boards, one by one</a:t>
            </a:r>
          </a:p>
          <a:p>
            <a:pPr>
              <a:spcAft>
                <a:spcPts val="1400"/>
              </a:spcAft>
            </a:pPr>
            <a:r>
              <a:rPr sz="2600" b="1" i="0">
                <a:solidFill>
                  <a:srgbClr val="B3251E"/>
                </a:solidFill>
                <a:latin typeface="Arial"/>
              </a:rPr>
              <a:t>✕  </a:t>
            </a:r>
            <a:r>
              <a:rPr sz="2600" b="0" i="0">
                <a:solidFill>
                  <a:srgbClr val="16203A"/>
                </a:solidFill>
                <a:latin typeface="Arial"/>
              </a:rPr>
              <a:t>Re-type your details into every form</a:t>
            </a:r>
          </a:p>
          <a:p>
            <a:pPr>
              <a:spcAft>
                <a:spcPts val="1400"/>
              </a:spcAft>
            </a:pPr>
            <a:r>
              <a:rPr sz="2600" b="1" i="0">
                <a:solidFill>
                  <a:srgbClr val="B3251E"/>
                </a:solidFill>
                <a:latin typeface="Arial"/>
              </a:rPr>
              <a:t>✕  </a:t>
            </a:r>
            <a:r>
              <a:rPr sz="2600" b="0" i="0">
                <a:solidFill>
                  <a:srgbClr val="16203A"/>
                </a:solidFill>
                <a:latin typeface="Arial"/>
              </a:rPr>
              <a:t>Tailor the resume — for every single job</a:t>
            </a:r>
          </a:p>
          <a:p>
            <a:pPr>
              <a:spcAft>
                <a:spcPts val="1400"/>
              </a:spcAft>
            </a:pPr>
            <a:r>
              <a:rPr sz="2600" b="1" i="0">
                <a:solidFill>
                  <a:srgbClr val="B3251E"/>
                </a:solidFill>
                <a:latin typeface="Arial"/>
              </a:rPr>
              <a:t>✕  </a:t>
            </a:r>
            <a:r>
              <a:rPr sz="2600" b="0" i="0">
                <a:solidFill>
                  <a:srgbClr val="16203A"/>
                </a:solidFill>
                <a:latin typeface="Arial"/>
              </a:rPr>
              <a:t>Write yet another cover letter</a:t>
            </a:r>
          </a:p>
          <a:p>
            <a:pPr>
              <a:spcAft>
                <a:spcPts val="1400"/>
              </a:spcAft>
            </a:pPr>
            <a:r>
              <a:rPr sz="2600" b="1" i="0">
                <a:solidFill>
                  <a:srgbClr val="B3251E"/>
                </a:solidFill>
                <a:latin typeface="Arial"/>
              </a:rPr>
              <a:t>✕  </a:t>
            </a:r>
            <a:r>
              <a:rPr sz="2600" b="0" i="0">
                <a:solidFill>
                  <a:srgbClr val="16203A"/>
                </a:solidFill>
                <a:latin typeface="Arial"/>
              </a:rPr>
              <a:t>Answer the same 20 questions every 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02 · WHAT IT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6203A"/>
                </a:solidFill>
                <a:latin typeface="Arial"/>
              </a:rPr>
              <a:t>Tell it about yourself </a:t>
            </a:r>
            <a:r>
              <a:rPr sz="4200" b="1" i="0">
                <a:solidFill>
                  <a:srgbClr val="3B5BDB"/>
                </a:solidFill>
                <a:latin typeface="Arial"/>
              </a:rPr>
              <a:t>once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286000"/>
            <a:ext cx="1856232" cy="137160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600" b="1" i="0">
                <a:solidFill>
                  <a:srgbClr val="16203A"/>
                </a:solidFill>
                <a:latin typeface="Arial"/>
              </a:rPr>
              <a:t>Profile</a:t>
            </a:r>
          </a:p>
          <a:p>
            <a:pPr algn="ctr"/>
            <a:r>
              <a:rPr sz="1200" b="0" i="0">
                <a:solidFill>
                  <a:srgbClr val="5A6478"/>
                </a:solidFill>
                <a:latin typeface="Arial"/>
              </a:rPr>
              <a:t>entered once, stored locally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87752" y="285292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926080" y="2286000"/>
            <a:ext cx="1856232" cy="137160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600" b="1" i="0">
                <a:solidFill>
                  <a:srgbClr val="16203A"/>
                </a:solidFill>
                <a:latin typeface="Arial"/>
              </a:rPr>
              <a:t>Search</a:t>
            </a:r>
          </a:p>
          <a:p>
            <a:pPr algn="ctr"/>
            <a:r>
              <a:rPr sz="1200" b="0" i="0">
                <a:solidFill>
                  <a:srgbClr val="5A6478"/>
                </a:solidFill>
                <a:latin typeface="Arial"/>
              </a:rPr>
              <a:t>10 job sources at once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28032" y="285292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166360" y="2286000"/>
            <a:ext cx="1856232" cy="137160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600" b="1" i="0">
                <a:solidFill>
                  <a:srgbClr val="16203A"/>
                </a:solidFill>
                <a:latin typeface="Arial"/>
              </a:rPr>
              <a:t>Rank</a:t>
            </a:r>
          </a:p>
          <a:p>
            <a:pPr algn="ctr"/>
            <a:r>
              <a:rPr sz="1200" b="0" i="0">
                <a:solidFill>
                  <a:srgbClr val="5A6478"/>
                </a:solidFill>
                <a:latin typeface="Arial"/>
              </a:rPr>
              <a:t>scored against your profile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68312" y="285292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406640" y="2286000"/>
            <a:ext cx="1856232" cy="137160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600" b="1" i="0">
                <a:solidFill>
                  <a:srgbClr val="16203A"/>
                </a:solidFill>
                <a:latin typeface="Arial"/>
              </a:rPr>
              <a:t>Write</a:t>
            </a:r>
          </a:p>
          <a:p>
            <a:pPr algn="ctr"/>
            <a:r>
              <a:rPr sz="1200" b="0" i="0">
                <a:solidFill>
                  <a:srgbClr val="5A6478"/>
                </a:solidFill>
                <a:latin typeface="Arial"/>
              </a:rPr>
              <a:t>tailored resume + letter, fact-checked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308592" y="285292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646920" y="2286000"/>
            <a:ext cx="1856232" cy="1371600"/>
          </a:xfrm>
          <a:prstGeom prst="roundRect">
            <a:avLst>
              <a:gd name="adj" fmla="val 12000"/>
            </a:avLst>
          </a:prstGeom>
          <a:solidFill>
            <a:srgbClr val="16203A"/>
          </a:solidFill>
          <a:ln w="28575">
            <a:solidFill>
              <a:srgbClr val="162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You submit</a:t>
            </a:r>
          </a:p>
          <a:p>
            <a:pPr algn="ctr"/>
            <a:r>
              <a:rPr sz="1200" b="0" i="0">
                <a:solidFill>
                  <a:srgbClr val="B9C2D8"/>
                </a:solidFill>
                <a:latin typeface="Arial"/>
              </a:rPr>
              <a:t>the only manual step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2062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i="0">
                <a:solidFill>
                  <a:srgbClr val="16203A"/>
                </a:solidFill>
                <a:latin typeface="Arial"/>
              </a:rPr>
              <a:t>It even fills the employer's real application form — then stops and waits for you.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03 ·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600" b="1" i="0">
                <a:solidFill>
                  <a:srgbClr val="16203A"/>
                </a:solidFill>
                <a:latin typeface="Arial"/>
              </a:rPr>
              <a:t>Live </a:t>
            </a:r>
            <a:r>
              <a:rPr sz="7600" b="1" i="0">
                <a:solidFill>
                  <a:srgbClr val="3B5BDB"/>
                </a:solidFill>
                <a:latin typeface="Arial"/>
              </a:rP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108960"/>
            <a:ext cx="10607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700" b="1" i="0">
                <a:solidFill>
                  <a:srgbClr val="14804A"/>
                </a:solidFill>
                <a:latin typeface="Arial"/>
              </a:rPr>
              <a:t>1  </a:t>
            </a:r>
            <a:r>
              <a:rPr sz="2700" b="0" i="0">
                <a:solidFill>
                  <a:srgbClr val="16203A"/>
                </a:solidFill>
                <a:latin typeface="Arial"/>
              </a:rPr>
              <a:t>  Profile — dropdowns, GitHub import</a:t>
            </a:r>
          </a:p>
          <a:p>
            <a:pPr>
              <a:spcAft>
                <a:spcPts val="1200"/>
              </a:spcAft>
            </a:pPr>
            <a:r>
              <a:rPr sz="2700" b="1" i="0">
                <a:solidFill>
                  <a:srgbClr val="14804A"/>
                </a:solidFill>
                <a:latin typeface="Arial"/>
              </a:rPr>
              <a:t>2  </a:t>
            </a:r>
            <a:r>
              <a:rPr sz="2700" b="0" i="0">
                <a:solidFill>
                  <a:srgbClr val="16203A"/>
                </a:solidFill>
                <a:latin typeface="Arial"/>
              </a:rPr>
              <a:t>  Find jobs — ranked, with reasons</a:t>
            </a:r>
          </a:p>
          <a:p>
            <a:pPr>
              <a:spcAft>
                <a:spcPts val="1200"/>
              </a:spcAft>
            </a:pPr>
            <a:r>
              <a:rPr sz="2700" b="1" i="0">
                <a:solidFill>
                  <a:srgbClr val="14804A"/>
                </a:solidFill>
                <a:latin typeface="Arial"/>
              </a:rPr>
              <a:t>3  </a:t>
            </a:r>
            <a:r>
              <a:rPr sz="2700" b="0" i="0">
                <a:solidFill>
                  <a:srgbClr val="16203A"/>
                </a:solidFill>
                <a:latin typeface="Arial"/>
              </a:rPr>
              <a:t>  Prepare — watch the AI work</a:t>
            </a:r>
          </a:p>
          <a:p>
            <a:pPr>
              <a:spcAft>
                <a:spcPts val="1200"/>
              </a:spcAft>
            </a:pPr>
            <a:r>
              <a:rPr sz="2700" b="1" i="0">
                <a:solidFill>
                  <a:srgbClr val="14804A"/>
                </a:solidFill>
                <a:latin typeface="Arial"/>
              </a:rPr>
              <a:t>4  </a:t>
            </a:r>
            <a:r>
              <a:rPr sz="2700" b="0" i="0">
                <a:solidFill>
                  <a:srgbClr val="16203A"/>
                </a:solidFill>
                <a:latin typeface="Arial"/>
              </a:rPr>
              <a:t>  Auto-fill a real application 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03 · DEMO — FINDING JOBS</a:t>
            </a:r>
          </a:p>
        </p:txBody>
      </p:sp>
      <p:pic>
        <p:nvPicPr>
          <p:cNvPr id="3" name="Picture 2" descr="pres-fin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1235" y="914400"/>
            <a:ext cx="7349224" cy="4937760"/>
          </a:xfrm>
          <a:prstGeom prst="rect">
            <a:avLst/>
          </a:prstGeom>
          <a:ln w="19050">
            <a:solidFill>
              <a:srgbClr val="D8DDE8"/>
            </a:solidFill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685800" y="60807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A6478"/>
                </a:solidFill>
                <a:latin typeface="Arial"/>
              </a:rPr>
              <a:t>Every job gets a match score and a plain-language </a:t>
            </a:r>
            <a:r>
              <a:rPr sz="1600" b="1" i="0">
                <a:solidFill>
                  <a:srgbClr val="5A6478"/>
                </a:solidFill>
                <a:latin typeface="Arial"/>
              </a:rPr>
              <a:t>why</a:t>
            </a:r>
            <a:r>
              <a:rPr sz="1600" b="0" i="0">
                <a:solidFill>
                  <a:srgbClr val="5A6478"/>
                </a:solidFill>
                <a:latin typeface="Arial"/>
              </a:rPr>
              <a:t> — including jobs straight from Israeli company career pages.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03 · DEMO — A PREPARED APPLICATION</a:t>
            </a:r>
          </a:p>
        </p:txBody>
      </p:sp>
      <p:pic>
        <p:nvPicPr>
          <p:cNvPr id="3" name="Picture 2" descr="pres-detai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1235" y="914400"/>
            <a:ext cx="7349224" cy="4937760"/>
          </a:xfrm>
          <a:prstGeom prst="rect">
            <a:avLst/>
          </a:prstGeom>
          <a:ln w="19050">
            <a:solidFill>
              <a:srgbClr val="D8DDE8"/>
            </a:solidFill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685800" y="60807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A6478"/>
                </a:solidFill>
                <a:latin typeface="Arial"/>
              </a:rPr>
              <a:t>Tailored resume (PDF), cover letter, and every form answer with a </a:t>
            </a:r>
            <a:r>
              <a:rPr sz="1600" b="1" i="0">
                <a:solidFill>
                  <a:srgbClr val="5A6478"/>
                </a:solidFill>
                <a:latin typeface="Arial"/>
              </a:rPr>
              <a:t>Copy</a:t>
            </a:r>
            <a:r>
              <a:rPr sz="1600" b="0" i="0">
                <a:solidFill>
                  <a:srgbClr val="5A6478"/>
                </a:solidFill>
                <a:latin typeface="Arial"/>
              </a:rPr>
              <a:t> button — fact-checked before you see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04 · ARCHITECTURE — 1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6203A"/>
                </a:solidFill>
                <a:latin typeface="Arial"/>
              </a:rPr>
              <a:t>Three ways in, </a:t>
            </a:r>
            <a:r>
              <a:rPr sz="4200" b="1" i="0">
                <a:solidFill>
                  <a:srgbClr val="3B5BDB"/>
                </a:solidFill>
                <a:latin typeface="Arial"/>
              </a:rPr>
              <a:t>one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377440"/>
            <a:ext cx="3349752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2000" b="1" i="0">
                <a:solidFill>
                  <a:srgbClr val="16203A"/>
                </a:solidFill>
                <a:latin typeface="Arial"/>
              </a:rPr>
              <a:t>Web app</a:t>
            </a:r>
          </a:p>
          <a:p>
            <a:pPr algn="ctr"/>
            <a:r>
              <a:rPr sz="1400" b="0" i="0">
                <a:solidFill>
                  <a:srgbClr val="5A6478"/>
                </a:solidFill>
                <a:latin typeface="Arial"/>
              </a:rPr>
              <a:t>for humans — buttons and forms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081272" y="303580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419600" y="2377440"/>
            <a:ext cx="3349752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2000" b="1" i="0">
                <a:solidFill>
                  <a:srgbClr val="16203A"/>
                </a:solidFill>
                <a:latin typeface="Arial"/>
              </a:rPr>
              <a:t>Terminal</a:t>
            </a:r>
          </a:p>
          <a:p>
            <a:pPr algn="ctr"/>
            <a:r>
              <a:rPr sz="1400" b="0" i="0">
                <a:solidFill>
                  <a:srgbClr val="5A6478"/>
                </a:solidFill>
                <a:latin typeface="Arial"/>
              </a:rPr>
              <a:t>for scripts and power users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815072" y="303580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153400" y="2377440"/>
            <a:ext cx="3349752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2000" b="1" i="0">
                <a:solidFill>
                  <a:srgbClr val="16203A"/>
                </a:solidFill>
                <a:latin typeface="Arial"/>
              </a:rPr>
              <a:t>"Find me python jobs"</a:t>
            </a:r>
          </a:p>
          <a:p>
            <a:pPr algn="ctr"/>
            <a:r>
              <a:rPr sz="1400" b="0" i="0">
                <a:solidFill>
                  <a:srgbClr val="5A6478"/>
                </a:solidFill>
                <a:latin typeface="Arial"/>
              </a:rPr>
              <a:t>plain-language agent mode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57200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i="0">
                <a:solidFill>
                  <a:srgbClr val="16203A"/>
                </a:solidFill>
                <a:latin typeface="Arial"/>
              </a:rPr>
              <a:t>All three call the exact same engine underneath — nothing is duplicated.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04 · ARCHITECTURE — 2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6203A"/>
                </a:solidFill>
                <a:latin typeface="Arial"/>
              </a:rPr>
              <a:t>The engine: </a:t>
            </a:r>
            <a:r>
              <a:rPr sz="3400" b="1" i="0">
                <a:solidFill>
                  <a:srgbClr val="3B5BDB"/>
                </a:solidFill>
                <a:latin typeface="Arial"/>
              </a:rPr>
              <a:t>one registry, five 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11680"/>
            <a:ext cx="10817352" cy="960120"/>
          </a:xfrm>
          <a:prstGeom prst="roundRect">
            <a:avLst>
              <a:gd name="adj" fmla="val 12000"/>
            </a:avLst>
          </a:prstGeom>
          <a:solidFill>
            <a:srgbClr val="16203A"/>
          </a:solidFill>
          <a:ln w="28575">
            <a:solidFill>
              <a:srgbClr val="162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Flask API + Tool Registry</a:t>
            </a:r>
          </a:p>
          <a:p>
            <a:pPr algn="ctr"/>
            <a:r>
              <a:rPr sz="1400" b="0" i="0">
                <a:solidFill>
                  <a:srgbClr val="B9C2D8"/>
                </a:solidFill>
                <a:latin typeface="Arial"/>
              </a:rPr>
              <a:t>every capability defined once — callable by code or by the LLM</a:t>
            </a:r>
          </a:p>
        </p:txBody>
      </p:sp>
      <p:sp>
        <p:nvSpPr>
          <p:cNvPr id="5" name="Down Arrow 4"/>
          <p:cNvSpPr/>
          <p:nvPr/>
        </p:nvSpPr>
        <p:spPr>
          <a:xfrm>
            <a:off x="5976975" y="3108960"/>
            <a:ext cx="237744" cy="274320"/>
          </a:xfrm>
          <a:prstGeom prst="down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3520440"/>
            <a:ext cx="1856232" cy="137160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700" b="1" i="0">
                <a:solidFill>
                  <a:srgbClr val="16203A"/>
                </a:solidFill>
                <a:latin typeface="Arial"/>
              </a:rPr>
              <a:t>scraper</a:t>
            </a:r>
          </a:p>
          <a:p>
            <a:pPr algn="ctr"/>
            <a:r>
              <a:rPr sz="1200" b="0" i="0">
                <a:solidFill>
                  <a:srgbClr val="5A6478"/>
                </a:solidFill>
                <a:latin typeface="Arial"/>
              </a:rPr>
              <a:t>finds jobs on 10 sources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87752" y="408736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926080" y="3520440"/>
            <a:ext cx="1856232" cy="137160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700" b="1" i="0">
                <a:solidFill>
                  <a:srgbClr val="16203A"/>
                </a:solidFill>
                <a:latin typeface="Arial"/>
              </a:rPr>
              <a:t>matching</a:t>
            </a:r>
          </a:p>
          <a:p>
            <a:pPr algn="ctr"/>
            <a:r>
              <a:rPr sz="1200" b="0" i="0">
                <a:solidFill>
                  <a:srgbClr val="5A6478"/>
                </a:solidFill>
                <a:latin typeface="Arial"/>
              </a:rPr>
              <a:t>scores each job 0–100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828032" y="408736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166360" y="3520440"/>
            <a:ext cx="1856232" cy="137160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700" b="1" i="0">
                <a:solidFill>
                  <a:srgbClr val="16203A"/>
                </a:solidFill>
                <a:latin typeface="Arial"/>
              </a:rPr>
              <a:t>generate</a:t>
            </a:r>
          </a:p>
          <a:p>
            <a:pPr algn="ctr"/>
            <a:r>
              <a:rPr sz="1200" b="0" i="0">
                <a:solidFill>
                  <a:srgbClr val="5A6478"/>
                </a:solidFill>
                <a:latin typeface="Arial"/>
              </a:rPr>
              <a:t>resume · letter · PDF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068312" y="408736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406640" y="3520440"/>
            <a:ext cx="1856232" cy="137160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700" b="1" i="0">
                <a:solidFill>
                  <a:srgbClr val="16203A"/>
                </a:solidFill>
                <a:latin typeface="Arial"/>
              </a:rPr>
              <a:t>autofill</a:t>
            </a:r>
          </a:p>
          <a:p>
            <a:pPr algn="ctr"/>
            <a:r>
              <a:rPr sz="1200" b="0" i="0">
                <a:solidFill>
                  <a:srgbClr val="5A6478"/>
                </a:solidFill>
                <a:latin typeface="Arial"/>
              </a:rPr>
              <a:t>fills real forms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308592" y="408736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646920" y="3520440"/>
            <a:ext cx="1856232" cy="137160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700" b="1" i="0">
                <a:solidFill>
                  <a:srgbClr val="16203A"/>
                </a:solidFill>
                <a:latin typeface="Arial"/>
              </a:rPr>
              <a:t>tracker</a:t>
            </a:r>
          </a:p>
          <a:p>
            <a:pPr algn="ctr"/>
            <a:r>
              <a:rPr sz="1200" b="0" i="0">
                <a:solidFill>
                  <a:srgbClr val="5A6478"/>
                </a:solidFill>
                <a:latin typeface="Arial"/>
              </a:rPr>
              <a:t>remembers everything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04 · ARCHITECTURE — 3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6203A"/>
                </a:solidFill>
                <a:latin typeface="Arial"/>
              </a:rPr>
              <a:t>What it talks to </a:t>
            </a:r>
            <a:r>
              <a:rPr sz="4200" b="1" i="0">
                <a:solidFill>
                  <a:srgbClr val="3B5BDB"/>
                </a:solidFill>
                <a:latin typeface="Arial"/>
              </a:rPr>
              <a:t>out there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377440"/>
            <a:ext cx="2416302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800" b="1" i="0">
                <a:solidFill>
                  <a:srgbClr val="16203A"/>
                </a:solidFill>
                <a:latin typeface="Arial"/>
              </a:rPr>
              <a:t>Job board APIs</a:t>
            </a:r>
          </a:p>
          <a:p>
            <a:pPr algn="ctr"/>
            <a:r>
              <a:rPr sz="1300" b="0" i="0">
                <a:solidFill>
                  <a:srgbClr val="5A6478"/>
                </a:solidFill>
                <a:latin typeface="Arial"/>
              </a:rPr>
              <a:t>Remotive · RemoteOK · Jobicy · HN …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147822" y="303580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486150" y="2377440"/>
            <a:ext cx="2416302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800" b="1" i="0">
                <a:solidFill>
                  <a:srgbClr val="16203A"/>
                </a:solidFill>
                <a:latin typeface="Arial"/>
              </a:rPr>
              <a:t>Company career APIs</a:t>
            </a:r>
          </a:p>
          <a:p>
            <a:pPr algn="ctr"/>
            <a:r>
              <a:rPr sz="1300" b="0" i="0">
                <a:solidFill>
                  <a:srgbClr val="5A6478"/>
                </a:solidFill>
                <a:latin typeface="Arial"/>
              </a:rPr>
              <a:t>Greenhouse · Lever · Ashby · SmartRecruiters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48172" y="303580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86500" y="2377440"/>
            <a:ext cx="2416302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800" b="1" i="0">
                <a:solidFill>
                  <a:srgbClr val="16203A"/>
                </a:solidFill>
                <a:latin typeface="Arial"/>
              </a:rPr>
              <a:t>Groq LLM</a:t>
            </a:r>
          </a:p>
          <a:p>
            <a:pPr algn="ctr"/>
            <a:r>
              <a:rPr sz="1300" b="0" i="0">
                <a:solidFill>
                  <a:srgbClr val="5A6478"/>
                </a:solidFill>
                <a:latin typeface="Arial"/>
              </a:rPr>
              <a:t>llama-3.3-70b — the AI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48522" y="303580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086850" y="2377440"/>
            <a:ext cx="2416302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800" b="1" i="0">
                <a:solidFill>
                  <a:srgbClr val="16203A"/>
                </a:solidFill>
                <a:latin typeface="Arial"/>
              </a:rPr>
              <a:t>Your Chrome</a:t>
            </a:r>
          </a:p>
          <a:p>
            <a:pPr algn="ctr"/>
            <a:r>
              <a:rPr sz="1300" b="0" i="0">
                <a:solidFill>
                  <a:srgbClr val="5A6478"/>
                </a:solidFill>
                <a:latin typeface="Arial"/>
              </a:rPr>
              <a:t>makes PDFs + fills forms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5720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16203A"/>
                </a:solidFill>
                <a:latin typeface="Arial"/>
              </a:rPr>
              <a:t>All public, documented interfaces — no scraping tricks, no logins, no rule-breaking.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04 · ARCHITECTURE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6203A"/>
                </a:solidFill>
                <a:latin typeface="Arial"/>
              </a:rPr>
              <a:t>Deterministic pipeline.
</a:t>
            </a:r>
            <a:r>
              <a:rPr sz="3400" b="1" i="0">
                <a:solidFill>
                  <a:srgbClr val="3B5BDB"/>
                </a:solidFill>
                <a:latin typeface="Arial"/>
              </a:rPr>
              <a:t>AI only where judgment is needed.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651760"/>
            <a:ext cx="1856232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600" b="1" i="0">
                <a:solidFill>
                  <a:srgbClr val="16203A"/>
                </a:solidFill>
                <a:latin typeface="Arial"/>
              </a:rPr>
              <a:t>Search</a:t>
            </a:r>
          </a:p>
          <a:p>
            <a:pPr algn="ctr"/>
            <a:r>
              <a:rPr sz="1200" b="0" i="0">
                <a:solidFill>
                  <a:srgbClr val="5A6478"/>
                </a:solidFill>
                <a:latin typeface="Arial"/>
              </a:rPr>
              <a:t>plain code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87752" y="305866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926080" y="2651760"/>
            <a:ext cx="1856232" cy="105156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600" b="1" i="0">
                <a:solidFill>
                  <a:srgbClr val="16203A"/>
                </a:solidFill>
                <a:latin typeface="Arial"/>
              </a:rPr>
              <a:t>Rank</a:t>
            </a:r>
          </a:p>
          <a:p>
            <a:pPr algn="ctr"/>
            <a:r>
              <a:rPr sz="1200" b="0" i="0">
                <a:solidFill>
                  <a:srgbClr val="5A6478"/>
                </a:solidFill>
                <a:latin typeface="Arial"/>
              </a:rPr>
              <a:t>AI JUDGE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28032" y="305866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166360" y="2651760"/>
            <a:ext cx="1856232" cy="105156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600" b="1" i="0">
                <a:solidFill>
                  <a:srgbClr val="16203A"/>
                </a:solidFill>
                <a:latin typeface="Arial"/>
              </a:rPr>
              <a:t>Write</a:t>
            </a:r>
          </a:p>
          <a:p>
            <a:pPr algn="ctr"/>
            <a:r>
              <a:rPr sz="1200" b="0" i="0">
                <a:solidFill>
                  <a:srgbClr val="5A6478"/>
                </a:solidFill>
                <a:latin typeface="Arial"/>
              </a:rPr>
              <a:t>AI WRITER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68312" y="305866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406640" y="2651760"/>
            <a:ext cx="1856232" cy="105156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600" b="1" i="0">
                <a:solidFill>
                  <a:srgbClr val="16203A"/>
                </a:solidFill>
                <a:latin typeface="Arial"/>
              </a:rPr>
              <a:t>Review</a:t>
            </a:r>
          </a:p>
          <a:p>
            <a:pPr algn="ctr"/>
            <a:r>
              <a:rPr sz="1200" b="0" i="0">
                <a:solidFill>
                  <a:srgbClr val="5A6478"/>
                </a:solidFill>
                <a:latin typeface="Arial"/>
              </a:rPr>
              <a:t>AI CRITIC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308592" y="305866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646920" y="2651760"/>
            <a:ext cx="1856232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600" b="1" i="0">
                <a:solidFill>
                  <a:srgbClr val="16203A"/>
                </a:solidFill>
                <a:latin typeface="Arial"/>
              </a:rPr>
              <a:t>Files &amp; tracking</a:t>
            </a:r>
          </a:p>
          <a:p>
            <a:pPr algn="ctr"/>
            <a:r>
              <a:rPr sz="1200" b="0" i="0">
                <a:solidFill>
                  <a:srgbClr val="5A6478"/>
                </a:solidFill>
                <a:latin typeface="Arial"/>
              </a:rPr>
              <a:t>plain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29768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16203A"/>
                </a:solidFill>
                <a:latin typeface="Arial"/>
              </a:rPr>
              <a:t>No “orchestrator agent” deciding what to do next: the flow is code, so it never gets lost and never burns tokens on planning — and every AI step can fail </a:t>
            </a:r>
            <a:r>
              <a:rPr sz="2100" b="1" i="0">
                <a:solidFill>
                  <a:srgbClr val="16203A"/>
                </a:solidFill>
                <a:latin typeface="Arial"/>
              </a:rPr>
              <a:t>without breaking the pipeline</a:t>
            </a:r>
            <a:r>
              <a:rPr sz="2100" b="0" i="0">
                <a:solidFill>
                  <a:srgbClr val="16203A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04 · THE PRINCIPLE IN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16203A"/>
                </a:solidFill>
                <a:latin typeface="Arial"/>
              </a:rPr>
              <a:t>Example: how </a:t>
            </a:r>
            <a:r>
              <a:rPr sz="3600" b="1" i="0">
                <a:solidFill>
                  <a:srgbClr val="3B5BDB"/>
                </a:solidFill>
                <a:latin typeface="Arial"/>
              </a:rPr>
              <a:t>Rank</a:t>
            </a:r>
            <a:r>
              <a:rPr sz="3600" b="1" i="0">
                <a:solidFill>
                  <a:srgbClr val="16203A"/>
                </a:solidFill>
                <a:latin typeface="Arial"/>
              </a:rPr>
              <a:t> really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103120"/>
            <a:ext cx="2542032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2400" b="1" i="0">
                <a:solidFill>
                  <a:srgbClr val="16203A"/>
                </a:solidFill>
                <a:latin typeface="Arial"/>
              </a:rPr>
              <a:t>40%</a:t>
            </a:r>
          </a:p>
          <a:p>
            <a:pPr algn="ctr"/>
            <a:r>
              <a:rPr sz="1300" b="0" i="0">
                <a:solidFill>
                  <a:srgbClr val="5A6478"/>
                </a:solidFill>
                <a:latin typeface="Arial"/>
              </a:rPr>
              <a:t>skills overlap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47288" y="2103120"/>
            <a:ext cx="2542032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2400" b="1" i="0">
                <a:solidFill>
                  <a:srgbClr val="16203A"/>
                </a:solidFill>
                <a:latin typeface="Arial"/>
              </a:rPr>
              <a:t>27%</a:t>
            </a:r>
          </a:p>
          <a:p>
            <a:pPr algn="ctr"/>
            <a:r>
              <a:rPr sz="1300" b="0" i="0">
                <a:solidFill>
                  <a:srgbClr val="5A6478"/>
                </a:solidFill>
                <a:latin typeface="Arial"/>
              </a:rPr>
              <a:t>title match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08776" y="2103120"/>
            <a:ext cx="2542032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2400" b="1" i="0">
                <a:solidFill>
                  <a:srgbClr val="16203A"/>
                </a:solidFill>
                <a:latin typeface="Arial"/>
              </a:rPr>
              <a:t>18%</a:t>
            </a:r>
          </a:p>
          <a:p>
            <a:pPr algn="ctr"/>
            <a:r>
              <a:rPr sz="1300" b="0" i="0">
                <a:solidFill>
                  <a:srgbClr val="5A6478"/>
                </a:solidFill>
                <a:latin typeface="Arial"/>
              </a:rPr>
              <a:t>location &amp; remote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70264" y="2103120"/>
            <a:ext cx="2542032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2400" b="1" i="0">
                <a:solidFill>
                  <a:srgbClr val="16203A"/>
                </a:solidFill>
                <a:latin typeface="Arial"/>
              </a:rPr>
              <a:t>15%</a:t>
            </a:r>
          </a:p>
          <a:p>
            <a:pPr algn="ctr"/>
            <a:r>
              <a:rPr sz="1300" b="0" i="0">
                <a:solidFill>
                  <a:srgbClr val="5A6478"/>
                </a:solidFill>
                <a:latin typeface="Arial"/>
              </a:rPr>
              <a:t>seniority fit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611880"/>
            <a:ext cx="3349752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800" b="1" i="0">
                <a:solidFill>
                  <a:srgbClr val="16203A"/>
                </a:solidFill>
                <a:latin typeface="Arial"/>
              </a:rPr>
              <a:t>Math scores every job</a:t>
            </a:r>
          </a:p>
          <a:p>
            <a:pPr algn="ctr"/>
            <a:r>
              <a:rPr sz="1300" b="0" i="0">
                <a:solidFill>
                  <a:srgbClr val="5A6478"/>
                </a:solidFill>
                <a:latin typeface="Arial"/>
              </a:rPr>
              <a:t>0–100 with plain-language reasons — instant, free, works with no AI at all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81272" y="427024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419600" y="3611880"/>
            <a:ext cx="3349752" cy="155448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800" b="1" i="0">
                <a:solidFill>
                  <a:srgbClr val="16203A"/>
                </a:solidFill>
                <a:latin typeface="Arial"/>
              </a:rPr>
              <a:t>AI re-ranks the top 10</a:t>
            </a:r>
          </a:p>
          <a:p>
            <a:pPr algn="ctr"/>
            <a:r>
              <a:rPr sz="1300" b="0" i="0">
                <a:solidFill>
                  <a:srgbClr val="5A6478"/>
                </a:solidFill>
                <a:latin typeface="Arial"/>
              </a:rPr>
              <a:t>a recruiter prompt returns score, verdict, strengths, gaps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815072" y="427024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153400" y="3611880"/>
            <a:ext cx="3349752" cy="1554480"/>
          </a:xfrm>
          <a:prstGeom prst="roundRect">
            <a:avLst>
              <a:gd name="adj" fmla="val 12000"/>
            </a:avLst>
          </a:prstGeom>
          <a:solidFill>
            <a:srgbClr val="16203A"/>
          </a:solidFill>
          <a:ln w="28575">
            <a:solidFill>
              <a:srgbClr val="162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Final = 50 / 50 blend</a:t>
            </a:r>
          </a:p>
          <a:p>
            <a:pPr algn="ctr"/>
            <a:r>
              <a:rPr sz="1300" b="0" i="0">
                <a:solidFill>
                  <a:srgbClr val="B9C2D8"/>
                </a:solidFill>
                <a:latin typeface="Arial"/>
              </a:rPr>
              <a:t>neither the math nor the model decides alone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6692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A6478"/>
                </a:solidFill>
                <a:latin typeface="Arial"/>
              </a:rPr>
              <a:t>If the AI call fails, the math score stands — ranking </a:t>
            </a:r>
            <a:r>
              <a:rPr sz="1600" b="1" i="0">
                <a:solidFill>
                  <a:srgbClr val="5A6478"/>
                </a:solidFill>
                <a:latin typeface="Arial"/>
              </a:rPr>
              <a:t>never breaks</a:t>
            </a:r>
            <a:r>
              <a:rPr sz="1600" b="0" i="0">
                <a:solidFill>
                  <a:srgbClr val="5A6478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05 · AGENTS &amp; TOOLS — 1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6203A"/>
                </a:solidFill>
                <a:latin typeface="Arial"/>
              </a:rPr>
              <a:t>A tool = a function </a:t>
            </a:r>
            <a:r>
              <a:rPr sz="3400" b="1" i="0">
                <a:solidFill>
                  <a:srgbClr val="3B5BDB"/>
                </a:solidFill>
                <a:latin typeface="Arial"/>
              </a:rPr>
              <a:t>the model may call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737360" y="2103120"/>
            <a:ext cx="8686800" cy="4023360"/>
          </a:xfrm>
          <a:prstGeom prst="roundRect">
            <a:avLst>
              <a:gd name="adj" fmla="val 6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201168" bIns="146304" rtlCol="0" anchor="ctr"/>
          <a:lstStyle/>
          <a:p>
            <a:pPr algn="l"/>
            <a:r>
              <a:rPr sz="1800" b="0" i="0">
                <a:solidFill>
                  <a:srgbClr val="E8ECF7"/>
                </a:solidFill>
                <a:latin typeface="Courier New"/>
              </a:rPr>
              <a:t>{ </a:t>
            </a:r>
            <a:r>
              <a:rPr sz="1800" b="0" i="0">
                <a:solidFill>
                  <a:srgbClr val="7EA8FF"/>
                </a:solidFill>
                <a:latin typeface="Courier New"/>
              </a:rPr>
              <a:t>"name"</a:t>
            </a:r>
            <a:r>
              <a:rPr sz="1800" b="0" i="0">
                <a:solidFill>
                  <a:srgbClr val="E8ECF7"/>
                </a:solidFill>
                <a:latin typeface="Courier New"/>
              </a:rPr>
              <a:t>: </a:t>
            </a:r>
            <a:r>
              <a:rPr sz="1800" b="0" i="0">
                <a:solidFill>
                  <a:srgbClr val="5ED598"/>
                </a:solidFill>
                <a:latin typeface="Courier New"/>
              </a:rPr>
              <a:t>"search_jobs"</a:t>
            </a:r>
            <a:r>
              <a:rPr sz="1800" b="0" i="0">
                <a:solidFill>
                  <a:srgbClr val="E8ECF7"/>
                </a:solidFill>
                <a:latin typeface="Courier New"/>
              </a:rPr>
              <a:t>,</a:t>
            </a:r>
          </a:p>
          <a:p>
            <a:pPr algn="l"/>
            <a:r>
              <a:rPr sz="1800" b="0" i="0">
                <a:solidFill>
                  <a:srgbClr val="7EA8FF"/>
                </a:solidFill>
                <a:latin typeface="Courier New"/>
              </a:rPr>
              <a:t>  "description"</a:t>
            </a:r>
            <a:r>
              <a:rPr sz="1800" b="0" i="0">
                <a:solidFill>
                  <a:srgbClr val="E8ECF7"/>
                </a:solidFill>
                <a:latin typeface="Courier New"/>
              </a:rPr>
              <a:t>: </a:t>
            </a:r>
            <a:r>
              <a:rPr sz="1800" b="0" i="0">
                <a:solidFill>
                  <a:srgbClr val="5ED598"/>
                </a:solidFill>
                <a:latin typeface="Courier New"/>
              </a:rPr>
              <a:t>"Search job boards.</a:t>
            </a:r>
          </a:p>
          <a:p>
            <a:pPr algn="l"/>
            <a:r>
              <a:rPr sz="1800" b="0" i="0">
                <a:solidFill>
                  <a:srgbClr val="5ED598"/>
                </a:solidFill>
                <a:latin typeface="Courier New"/>
              </a:rPr>
              <a:t>     Returns count and sample titles."</a:t>
            </a:r>
            <a:r>
              <a:rPr sz="1800" b="0" i="0">
                <a:solidFill>
                  <a:srgbClr val="E8ECF7"/>
                </a:solidFill>
                <a:latin typeface="Courier New"/>
              </a:rPr>
              <a:t>,</a:t>
            </a:r>
          </a:p>
          <a:p>
            <a:pPr algn="l"/>
            <a:r>
              <a:rPr sz="1800" b="0" i="0">
                <a:solidFill>
                  <a:srgbClr val="7EA8FF"/>
                </a:solidFill>
                <a:latin typeface="Courier New"/>
              </a:rPr>
              <a:t>  "parameters"</a:t>
            </a:r>
            <a:r>
              <a:rPr sz="1800" b="0" i="0">
                <a:solidFill>
                  <a:srgbClr val="E8ECF7"/>
                </a:solidFill>
                <a:latin typeface="Courier New"/>
              </a:rPr>
              <a:t>: {</a:t>
            </a:r>
          </a:p>
          <a:p>
            <a:pPr algn="l"/>
            <a:r>
              <a:rPr sz="1800" b="0" i="0">
                <a:solidFill>
                  <a:srgbClr val="7EA8FF"/>
                </a:solidFill>
                <a:latin typeface="Courier New"/>
              </a:rPr>
              <a:t>    "keywords"</a:t>
            </a:r>
            <a:r>
              <a:rPr sz="1800" b="0" i="0">
                <a:solidFill>
                  <a:srgbClr val="E8ECF7"/>
                </a:solidFill>
                <a:latin typeface="Courier New"/>
              </a:rPr>
              <a:t>: </a:t>
            </a:r>
            <a:r>
              <a:rPr sz="1800" b="0" i="0">
                <a:solidFill>
                  <a:srgbClr val="5ED598"/>
                </a:solidFill>
                <a:latin typeface="Courier New"/>
              </a:rPr>
              <a:t>array of string</a:t>
            </a:r>
            <a:r>
              <a:rPr sz="1800" b="0" i="0">
                <a:solidFill>
                  <a:srgbClr val="E8ECF7"/>
                </a:solidFill>
                <a:latin typeface="Courier New"/>
              </a:rPr>
              <a:t>,</a:t>
            </a:r>
          </a:p>
          <a:p>
            <a:pPr algn="l"/>
            <a:r>
              <a:rPr sz="1800" b="0" i="0">
                <a:solidFill>
                  <a:srgbClr val="7EA8FF"/>
                </a:solidFill>
                <a:latin typeface="Courier New"/>
              </a:rPr>
              <a:t>    "remote"</a:t>
            </a:r>
            <a:r>
              <a:rPr sz="1800" b="0" i="0">
                <a:solidFill>
                  <a:srgbClr val="E8ECF7"/>
                </a:solidFill>
                <a:latin typeface="Courier New"/>
              </a:rPr>
              <a:t>:   </a:t>
            </a:r>
            <a:r>
              <a:rPr sz="1800" b="0" i="0">
                <a:solidFill>
                  <a:srgbClr val="5ED598"/>
                </a:solidFill>
                <a:latin typeface="Courier New"/>
              </a:rPr>
              <a:t>boolean</a:t>
            </a:r>
            <a:r>
              <a:rPr sz="1800" b="0" i="0">
                <a:solidFill>
                  <a:srgbClr val="E8ECF7"/>
                </a:solidFill>
                <a:latin typeface="Courier New"/>
              </a:rPr>
              <a:t>,</a:t>
            </a:r>
          </a:p>
          <a:p>
            <a:pPr algn="l"/>
            <a:r>
              <a:rPr sz="1800" b="0" i="0">
                <a:solidFill>
                  <a:srgbClr val="7EA8FF"/>
                </a:solidFill>
                <a:latin typeface="Courier New"/>
              </a:rPr>
              <a:t>    "limit"</a:t>
            </a:r>
            <a:r>
              <a:rPr sz="1800" b="0" i="0">
                <a:solidFill>
                  <a:srgbClr val="E8ECF7"/>
                </a:solidFill>
                <a:latin typeface="Courier New"/>
              </a:rPr>
              <a:t>:    </a:t>
            </a:r>
            <a:r>
              <a:rPr sz="1800" b="0" i="0">
                <a:solidFill>
                  <a:srgbClr val="5ED598"/>
                </a:solidFill>
                <a:latin typeface="Courier New"/>
              </a:rPr>
              <a:t>integer</a:t>
            </a:r>
            <a:r>
              <a:rPr sz="1800" b="0" i="0">
                <a:solidFill>
                  <a:srgbClr val="E8ECF7"/>
                </a:solidFill>
                <a:latin typeface="Courier New"/>
              </a:rPr>
              <a:t> } }</a:t>
            </a:r>
          </a:p>
          <a:p>
            <a:pPr algn="l"/>
            <a:endParaRPr sz="1800" b="0" i="0">
              <a:solidFill>
                <a:srgbClr val="E8ECF7"/>
              </a:solidFill>
              <a:latin typeface="Courier New"/>
            </a:endParaRPr>
          </a:p>
          <a:p>
            <a:pPr algn="l"/>
            <a:r>
              <a:rPr sz="1800" b="0" i="0">
                <a:solidFill>
                  <a:srgbClr val="8FA0C7"/>
                </a:solidFill>
                <a:latin typeface="Courier New"/>
              </a:rPr>
              <a:t># + the Python function that actually runs 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05 · AGENTS &amp; TOOLS — 2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6203A"/>
                </a:solidFill>
                <a:latin typeface="Arial"/>
              </a:rPr>
              <a:t>The whole tool system, </a:t>
            </a:r>
            <a:r>
              <a:rPr sz="3400" b="1" i="0">
                <a:solidFill>
                  <a:srgbClr val="3B5BDB"/>
                </a:solidFill>
                <a:latin typeface="Arial"/>
              </a:rPr>
              <a:t>in 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17320" y="2011680"/>
            <a:ext cx="9326880" cy="4069080"/>
          </a:xfrm>
          <a:prstGeom prst="roundRect">
            <a:avLst>
              <a:gd name="adj" fmla="val 6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201168" bIns="146304" rtlCol="0" anchor="ctr"/>
          <a:lstStyle/>
          <a:p>
            <a:pPr algn="l"/>
            <a:r>
              <a:rPr sz="1600" b="0" i="0">
                <a:solidFill>
                  <a:srgbClr val="7EA8FF"/>
                </a:solidFill>
                <a:latin typeface="Courier New"/>
              </a:rPr>
              <a:t>@dataclass</a:t>
            </a:r>
          </a:p>
          <a:p>
            <a:pPr algn="l"/>
            <a:r>
              <a:rPr sz="1600" b="0" i="0">
                <a:solidFill>
                  <a:srgbClr val="E8ECF7"/>
                </a:solidFill>
                <a:latin typeface="Courier New"/>
              </a:rPr>
              <a:t>class Tool:</a:t>
            </a:r>
          </a:p>
          <a:p>
            <a:pPr algn="l"/>
            <a:r>
              <a:rPr sz="1600" b="0" i="0">
                <a:solidFill>
                  <a:srgbClr val="E8ECF7"/>
                </a:solidFill>
                <a:latin typeface="Courier New"/>
              </a:rPr>
              <a:t>    name: str          </a:t>
            </a:r>
            <a:r>
              <a:rPr sz="1600" b="0" i="0">
                <a:solidFill>
                  <a:srgbClr val="8FA0C7"/>
                </a:solidFill>
                <a:latin typeface="Courier New"/>
              </a:rPr>
              <a:t># "search_jobs"</a:t>
            </a:r>
          </a:p>
          <a:p>
            <a:pPr algn="l"/>
            <a:r>
              <a:rPr sz="1600" b="0" i="0">
                <a:solidFill>
                  <a:srgbClr val="E8ECF7"/>
                </a:solidFill>
                <a:latin typeface="Courier New"/>
              </a:rPr>
              <a:t>    description: str   </a:t>
            </a:r>
            <a:r>
              <a:rPr sz="1600" b="0" i="0">
                <a:solidFill>
                  <a:srgbClr val="8FA0C7"/>
                </a:solidFill>
                <a:latin typeface="Courier New"/>
              </a:rPr>
              <a:t># what the model reads</a:t>
            </a:r>
          </a:p>
          <a:p>
            <a:pPr algn="l"/>
            <a:r>
              <a:rPr sz="1600" b="0" i="0">
                <a:solidFill>
                  <a:srgbClr val="E8ECF7"/>
                </a:solidFill>
                <a:latin typeface="Courier New"/>
              </a:rPr>
              <a:t>    parameters: dict   </a:t>
            </a:r>
            <a:r>
              <a:rPr sz="1600" b="0" i="0">
                <a:solidFill>
                  <a:srgbClr val="8FA0C7"/>
                </a:solidFill>
                <a:latin typeface="Courier New"/>
              </a:rPr>
              <a:t># JSON Schema of the arguments</a:t>
            </a:r>
          </a:p>
          <a:p>
            <a:pPr algn="l"/>
            <a:r>
              <a:rPr sz="1600" b="0" i="0">
                <a:solidFill>
                  <a:srgbClr val="E8ECF7"/>
                </a:solidFill>
                <a:latin typeface="Courier New"/>
              </a:rPr>
              <a:t>    func: Callable     </a:t>
            </a:r>
            <a:r>
              <a:rPr sz="1600" b="0" i="0">
                <a:solidFill>
                  <a:srgbClr val="8FA0C7"/>
                </a:solidFill>
                <a:latin typeface="Courier New"/>
              </a:rPr>
              <a:t># the real Python function</a:t>
            </a:r>
          </a:p>
          <a:p>
            <a:pPr algn="l"/>
            <a:endParaRPr sz="1600" b="0" i="0">
              <a:solidFill>
                <a:srgbClr val="8FA0C7"/>
              </a:solidFill>
              <a:latin typeface="Courier New"/>
            </a:endParaRPr>
          </a:p>
          <a:p>
            <a:pPr algn="l"/>
            <a:r>
              <a:rPr sz="1600" b="0" i="0">
                <a:solidFill>
                  <a:srgbClr val="E8ECF7"/>
                </a:solidFill>
                <a:latin typeface="Courier New"/>
              </a:rPr>
              <a:t>    def to_schema(self):   </a:t>
            </a:r>
            <a:r>
              <a:rPr sz="1600" b="0" i="0">
                <a:solidFill>
                  <a:srgbClr val="8FA0C7"/>
                </a:solidFill>
                <a:latin typeface="Courier New"/>
              </a:rPr>
              <a:t># the exact shape the API wants</a:t>
            </a:r>
          </a:p>
          <a:p>
            <a:pPr algn="l"/>
            <a:r>
              <a:rPr sz="1600" b="0" i="0">
                <a:solidFill>
                  <a:srgbClr val="5ED598"/>
                </a:solidFill>
                <a:latin typeface="Courier New"/>
              </a:rPr>
              <a:t>        return {"type": "function", "function": {…}}</a:t>
            </a:r>
          </a:p>
          <a:p>
            <a:pPr algn="l"/>
            <a:endParaRPr sz="1600" b="0" i="0">
              <a:solidFill>
                <a:srgbClr val="5ED598"/>
              </a:solidFill>
              <a:latin typeface="Courier New"/>
            </a:endParaRPr>
          </a:p>
          <a:p>
            <a:pPr algn="l"/>
            <a:r>
              <a:rPr sz="1600" b="0" i="0">
                <a:solidFill>
                  <a:srgbClr val="E8ECF7"/>
                </a:solidFill>
                <a:latin typeface="Courier New"/>
              </a:rPr>
              <a:t>class ToolRegistry:</a:t>
            </a:r>
          </a:p>
          <a:p>
            <a:pPr algn="l"/>
            <a:r>
              <a:rPr sz="1600" b="0" i="0">
                <a:solidFill>
                  <a:srgbClr val="E8ECF7"/>
                </a:solidFill>
                <a:latin typeface="Courier New"/>
              </a:rPr>
              <a:t>    _tools: dict[str, Tool]      </a:t>
            </a:r>
            <a:r>
              <a:rPr sz="1600" b="0" i="0">
                <a:solidFill>
                  <a:srgbClr val="8FA0C7"/>
                </a:solidFill>
                <a:latin typeface="Courier New"/>
              </a:rPr>
              <a:t># the registry IS a dict</a:t>
            </a:r>
          </a:p>
          <a:p>
            <a:pPr algn="l"/>
            <a:r>
              <a:rPr sz="1600" b="0" i="0">
                <a:solidFill>
                  <a:srgbClr val="E8ECF7"/>
                </a:solidFill>
                <a:latin typeface="Courier New"/>
              </a:rPr>
              <a:t>    def schemas(self): …         </a:t>
            </a:r>
            <a:r>
              <a:rPr sz="1600" b="0" i="0">
                <a:solidFill>
                  <a:srgbClr val="8FA0C7"/>
                </a:solidFill>
                <a:latin typeface="Courier New"/>
              </a:rPr>
              <a:t># all tools, for the model</a:t>
            </a:r>
          </a:p>
          <a:p>
            <a:pPr algn="l"/>
            <a:r>
              <a:rPr sz="1600" b="0" i="0">
                <a:solidFill>
                  <a:srgbClr val="E8ECF7"/>
                </a:solidFill>
                <a:latin typeface="Courier New"/>
              </a:rPr>
              <a:t>    def dispatch(self, name, args): …  </a:t>
            </a:r>
            <a:r>
              <a:rPr sz="1600" b="0" i="0">
                <a:solidFill>
                  <a:srgbClr val="8FA0C7"/>
                </a:solidFill>
                <a:latin typeface="Courier New"/>
              </a:rPr>
              <a:t># run one by name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636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A6478"/>
                </a:solidFill>
                <a:latin typeface="Arial"/>
              </a:rPr>
              <a:t>~60 lines total. A tool is just </a:t>
            </a:r>
            <a:r>
              <a:rPr sz="1600" b="1" i="0">
                <a:solidFill>
                  <a:srgbClr val="5A6478"/>
                </a:solidFill>
                <a:latin typeface="Arial"/>
              </a:rPr>
              <a:t>data + a function</a:t>
            </a:r>
            <a:r>
              <a:rPr sz="1600" b="0" i="0">
                <a:solidFill>
                  <a:srgbClr val="5A6478"/>
                </a:solidFill>
                <a:latin typeface="Arial"/>
              </a:rPr>
              <a:t> — nothing more.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05 · AGENTS &amp; TOOLS — 3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6203A"/>
                </a:solidFill>
                <a:latin typeface="Arial"/>
              </a:rPr>
              <a:t>One registry, </a:t>
            </a:r>
            <a:r>
              <a:rPr sz="4200" b="1" i="0">
                <a:solidFill>
                  <a:srgbClr val="3B5BDB"/>
                </a:solidFill>
                <a:latin typeface="Arial"/>
              </a:rPr>
              <a:t>two callers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66160" y="2103120"/>
            <a:ext cx="5029200" cy="914400"/>
          </a:xfrm>
          <a:prstGeom prst="roundRect">
            <a:avLst>
              <a:gd name="adj" fmla="val 12000"/>
            </a:avLst>
          </a:prstGeom>
          <a:solidFill>
            <a:srgbClr val="16203A"/>
          </a:solidFill>
          <a:ln w="28575">
            <a:solidFill>
              <a:srgbClr val="162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6 tools in one registry</a:t>
            </a:r>
          </a:p>
          <a:p>
            <a:pPr algn="ctr"/>
            <a:r>
              <a:rPr sz="1300" b="0" i="0">
                <a:solidFill>
                  <a:srgbClr val="B9C2D8"/>
                </a:solidFill>
                <a:latin typeface="Arial"/>
              </a:rPr>
              <a:t>search · rank · list · generate · answer · profile</a:t>
            </a:r>
          </a:p>
        </p:txBody>
      </p:sp>
      <p:sp>
        <p:nvSpPr>
          <p:cNvPr id="5" name="Down Arrow 4"/>
          <p:cNvSpPr/>
          <p:nvPr/>
        </p:nvSpPr>
        <p:spPr>
          <a:xfrm>
            <a:off x="4023360" y="3154680"/>
            <a:ext cx="237744" cy="274320"/>
          </a:xfrm>
          <a:prstGeom prst="down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Down Arrow 5"/>
          <p:cNvSpPr/>
          <p:nvPr/>
        </p:nvSpPr>
        <p:spPr>
          <a:xfrm>
            <a:off x="8001000" y="3154680"/>
            <a:ext cx="237744" cy="274320"/>
          </a:xfrm>
          <a:prstGeom prst="down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280160" y="3566160"/>
            <a:ext cx="457200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800" b="1" i="0">
                <a:solidFill>
                  <a:srgbClr val="16203A"/>
                </a:solidFill>
                <a:latin typeface="Arial"/>
              </a:rPr>
              <a:t>The fixed pipeline</a:t>
            </a:r>
          </a:p>
          <a:p>
            <a:pPr algn="ctr"/>
            <a:r>
              <a:rPr sz="1300" b="0" i="0">
                <a:solidFill>
                  <a:srgbClr val="5A6478"/>
                </a:solidFill>
                <a:latin typeface="Arial"/>
              </a:rPr>
              <a:t>buttons &amp; terminal call tools in a set order — cheap, reliable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3566160"/>
            <a:ext cx="4572000" cy="137160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800" b="1" i="0">
                <a:solidFill>
                  <a:srgbClr val="16203A"/>
                </a:solidFill>
                <a:latin typeface="Arial"/>
              </a:rPr>
              <a:t>The AI (agent mode)</a:t>
            </a:r>
          </a:p>
          <a:p>
            <a:pPr algn="ctr"/>
            <a:r>
              <a:rPr sz="1300" b="0" i="0">
                <a:solidFill>
                  <a:srgbClr val="5A6478"/>
                </a:solidFill>
                <a:latin typeface="Arial"/>
              </a:rPr>
              <a:t>reads the descriptions and chooses tools itself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035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16203A"/>
                </a:solidFill>
                <a:latin typeface="Arial"/>
              </a:rPr>
              <a:t>Tools return short summaries, not raw data — the model stays focused and cheap.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05 · AGENTS &amp; TOOLS — 4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6203A"/>
                </a:solidFill>
                <a:latin typeface="Arial"/>
              </a:rPr>
              <a:t>What “calling a tool” </a:t>
            </a:r>
            <a:r>
              <a:rPr sz="3400" b="1" i="0">
                <a:solidFill>
                  <a:srgbClr val="3B5BDB"/>
                </a:solidFill>
                <a:latin typeface="Arial"/>
              </a:rPr>
              <a:t>actually means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3B5BDB"/>
                </a:solidFill>
                <a:latin typeface="Arial"/>
              </a:rPr>
              <a:t>1  </a:t>
            </a:r>
            <a:r>
              <a:rPr sz="2000" b="0" i="0">
                <a:solidFill>
                  <a:srgbClr val="16203A"/>
                </a:solidFill>
                <a:latin typeface="Arial"/>
              </a:rPr>
              <a:t>  The model never executes anything — it outputs </a:t>
            </a:r>
            <a:r>
              <a:rPr sz="2000" b="1" i="0">
                <a:solidFill>
                  <a:srgbClr val="16203A"/>
                </a:solidFill>
                <a:latin typeface="Arial"/>
              </a:rPr>
              <a:t>text</a:t>
            </a:r>
            <a:r>
              <a:rPr sz="2000" b="0" i="0">
                <a:solidFill>
                  <a:srgbClr val="16203A"/>
                </a:solidFill>
                <a:latin typeface="Arial"/>
              </a:rPr>
              <a:t>: a tool name + arguments as a JSON string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3B5BDB"/>
                </a:solidFill>
                <a:latin typeface="Arial"/>
              </a:rPr>
              <a:t>2  </a:t>
            </a:r>
            <a:r>
              <a:rPr sz="2000" b="0" i="0">
                <a:solidFill>
                  <a:srgbClr val="16203A"/>
                </a:solidFill>
                <a:latin typeface="Arial"/>
              </a:rPr>
              <a:t>  dispatch(): parse the JSON → look up the tool → run </a:t>
            </a:r>
            <a:r>
              <a:rPr sz="2000" b="1" i="0">
                <a:solidFill>
                  <a:srgbClr val="16203A"/>
                </a:solidFill>
                <a:latin typeface="Arial"/>
              </a:rPr>
              <a:t>func(**args)</a:t>
            </a:r>
            <a:r>
              <a:rPr sz="2000" b="0" i="0">
                <a:solidFill>
                  <a:srgbClr val="16203A"/>
                </a:solidFill>
                <a:latin typeface="Arial"/>
              </a:rPr>
              <a:t> → return the result as JSON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3B5BDB"/>
                </a:solidFill>
                <a:latin typeface="Arial"/>
              </a:rPr>
              <a:t>3  </a:t>
            </a:r>
            <a:r>
              <a:rPr sz="2000" b="0" i="0">
                <a:solidFill>
                  <a:srgbClr val="16203A"/>
                </a:solidFill>
                <a:latin typeface="Arial"/>
              </a:rPr>
              <a:t>  Every failure becomes a </a:t>
            </a:r>
            <a:r>
              <a:rPr sz="2000" b="1" i="0">
                <a:solidFill>
                  <a:srgbClr val="16203A"/>
                </a:solidFill>
                <a:latin typeface="Arial"/>
              </a:rPr>
              <a:t>message</a:t>
            </a:r>
            <a:r>
              <a:rPr sz="2000" b="0" i="0">
                <a:solidFill>
                  <a:srgbClr val="16203A"/>
                </a:solidFill>
                <a:latin typeface="Arial"/>
              </a:rPr>
              <a:t>, never a crash: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3794760"/>
            <a:ext cx="9326880" cy="2103120"/>
          </a:xfrm>
          <a:prstGeom prst="roundRect">
            <a:avLst>
              <a:gd name="adj" fmla="val 6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201168" bIns="146304" rtlCol="0" anchor="ctr"/>
          <a:lstStyle/>
          <a:p>
            <a:pPr algn="l"/>
            <a:r>
              <a:rPr sz="1500" b="0" i="0">
                <a:solidFill>
                  <a:srgbClr val="5ED598"/>
                </a:solidFill>
                <a:latin typeface="Courier New"/>
              </a:rPr>
              <a:t>{"error": "unknown tool 'serch_jobs'"}</a:t>
            </a:r>
            <a:r>
              <a:rPr sz="1500" b="0" i="0">
                <a:solidFill>
                  <a:srgbClr val="8FA0C7"/>
                </a:solidFill>
                <a:latin typeface="Courier New"/>
              </a:rPr>
              <a:t>            # typo'd name</a:t>
            </a:r>
          </a:p>
          <a:p>
            <a:pPr algn="l"/>
            <a:r>
              <a:rPr sz="1500" b="0" i="0">
                <a:solidFill>
                  <a:srgbClr val="5ED598"/>
                </a:solidFill>
                <a:latin typeface="Courier New"/>
              </a:rPr>
              <a:t>{"error": "arguments were not valid JSON"}</a:t>
            </a:r>
            <a:r>
              <a:rPr sz="1500" b="0" i="0">
                <a:solidFill>
                  <a:srgbClr val="8FA0C7"/>
                </a:solidFill>
                <a:latin typeface="Courier New"/>
              </a:rPr>
              <a:t>        # malformed args</a:t>
            </a:r>
          </a:p>
          <a:p>
            <a:pPr algn="l"/>
            <a:r>
              <a:rPr sz="1500" b="0" i="0">
                <a:solidFill>
                  <a:srgbClr val="5ED598"/>
                </a:solidFill>
                <a:latin typeface="Courier New"/>
              </a:rPr>
              <a:t>{"error": "bad arguments for search_jobs: …"}</a:t>
            </a:r>
            <a:r>
              <a:rPr sz="1500" b="0" i="0">
                <a:solidFill>
                  <a:srgbClr val="8FA0C7"/>
                </a:solidFill>
                <a:latin typeface="Courier New"/>
              </a:rPr>
              <a:t>     # wrong params</a:t>
            </a:r>
          </a:p>
          <a:p>
            <a:pPr algn="l"/>
            <a:r>
              <a:rPr sz="1500" b="0" i="0">
                <a:solidFill>
                  <a:srgbClr val="5ED598"/>
                </a:solidFill>
                <a:latin typeface="Courier New"/>
              </a:rPr>
              <a:t>{"error": "ConnectionError: …"}</a:t>
            </a:r>
            <a:r>
              <a:rPr sz="1500" b="0" i="0">
                <a:solidFill>
                  <a:srgbClr val="8FA0C7"/>
                </a:solidFill>
                <a:latin typeface="Courier New"/>
              </a:rPr>
              <a:t>                   # the tool blew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1264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A6478"/>
                </a:solidFill>
                <a:latin typeface="Arial"/>
              </a:rPr>
              <a:t>The error goes back into the conversation — the model reads it and </a:t>
            </a:r>
            <a:r>
              <a:rPr sz="1600" b="1" i="0">
                <a:solidFill>
                  <a:srgbClr val="5A6478"/>
                </a:solidFill>
                <a:latin typeface="Arial"/>
              </a:rPr>
              <a:t>fixes its next call</a:t>
            </a:r>
            <a:r>
              <a:rPr sz="1600" b="0" i="0">
                <a:solidFill>
                  <a:srgbClr val="5A6478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05 · AGENTS &amp; TOOLS — 5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6203A"/>
                </a:solidFill>
                <a:latin typeface="Arial"/>
              </a:rPr>
              <a:t>Tools return summaries — </a:t>
            </a:r>
            <a:r>
              <a:rPr sz="3200" b="1" i="0">
                <a:solidFill>
                  <a:srgbClr val="3B5BDB"/>
                </a:solidFill>
                <a:latin typeface="Arial"/>
              </a:rPr>
              <a:t>the data stays on disk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17320" y="2011680"/>
            <a:ext cx="9326880" cy="2651760"/>
          </a:xfrm>
          <a:prstGeom prst="roundRect">
            <a:avLst>
              <a:gd name="adj" fmla="val 6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201168" bIns="146304" rtlCol="0" anchor="ctr"/>
          <a:lstStyle/>
          <a:p>
            <a:pPr algn="l"/>
            <a:r>
              <a:rPr sz="1600" b="0" i="0">
                <a:solidFill>
                  <a:srgbClr val="E8ECF7"/>
                </a:solidFill>
                <a:latin typeface="Courier New"/>
              </a:rPr>
              <a:t>→ tool: </a:t>
            </a:r>
            <a:r>
              <a:rPr sz="1600" b="0" i="0">
                <a:solidFill>
                  <a:srgbClr val="7EA8FF"/>
                </a:solidFill>
                <a:latin typeface="Courier New"/>
              </a:rPr>
              <a:t>search_jobs</a:t>
            </a:r>
            <a:r>
              <a:rPr sz="1600" b="0" i="0">
                <a:solidFill>
                  <a:srgbClr val="E8ECF7"/>
                </a:solidFill>
                <a:latin typeface="Courier New"/>
              </a:rPr>
              <a:t>({"keywords": ["python"]})</a:t>
            </a:r>
          </a:p>
          <a:p>
            <a:pPr algn="l"/>
            <a:endParaRPr sz="1600" b="0" i="0">
              <a:solidFill>
                <a:srgbClr val="E8ECF7"/>
              </a:solidFill>
              <a:latin typeface="Courier New"/>
            </a:endParaRPr>
          </a:p>
          <a:p>
            <a:pPr algn="l"/>
            <a:r>
              <a:rPr sz="1600" b="0" i="0">
                <a:solidFill>
                  <a:srgbClr val="5ED598"/>
                </a:solidFill>
                <a:latin typeface="Courier New"/>
              </a:rPr>
              <a:t>  {"found": 14,</a:t>
            </a:r>
          </a:p>
          <a:p>
            <a:pPr algn="l"/>
            <a:r>
              <a:rPr sz="1600" b="0" i="0">
                <a:solidFill>
                  <a:srgbClr val="5ED598"/>
                </a:solidFill>
                <a:latin typeface="Courier New"/>
              </a:rPr>
              <a:t>   "cached_to": "~/.job_agent/jobs_cache.json",</a:t>
            </a:r>
          </a:p>
          <a:p>
            <a:pPr algn="l"/>
            <a:r>
              <a:rPr sz="1600" b="0" i="0">
                <a:solidFill>
                  <a:srgbClr val="5ED598"/>
                </a:solidFill>
                <a:latin typeface="Courier New"/>
              </a:rPr>
              <a:t>   "sample": ["Python Developer @ …", …]}</a:t>
            </a:r>
            <a:r>
              <a:rPr sz="1600" b="0" i="0">
                <a:solidFill>
                  <a:srgbClr val="8FA0C7"/>
                </a:solidFill>
                <a:latin typeface="Courier New"/>
              </a:rPr>
              <a:t>   # ~80 tokens</a:t>
            </a:r>
          </a:p>
          <a:p>
            <a:pPr algn="l"/>
            <a:endParaRPr sz="1600" b="0" i="0">
              <a:solidFill>
                <a:srgbClr val="8FA0C7"/>
              </a:solidFill>
              <a:latin typeface="Courier New"/>
            </a:endParaRPr>
          </a:p>
          <a:p>
            <a:pPr algn="l"/>
            <a:r>
              <a:rPr sz="1600" b="0" i="0">
                <a:solidFill>
                  <a:srgbClr val="8FA0C7"/>
                </a:solidFill>
                <a:latin typeface="Courier New"/>
              </a:rPr>
              <a:t>  NOT the 14 full postings                    # ~15,000 tokens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983480"/>
            <a:ext cx="10607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14804A"/>
                </a:solidFill>
                <a:latin typeface="Arial"/>
              </a:rPr>
              <a:t>✓  </a:t>
            </a:r>
            <a:r>
              <a:rPr sz="2000" b="0" i="0">
                <a:solidFill>
                  <a:srgbClr val="16203A"/>
                </a:solidFill>
                <a:latin typeface="Arial"/>
              </a:rPr>
              <a:t>The full postings go to a </a:t>
            </a:r>
            <a:r>
              <a:rPr sz="2000" b="1" i="0">
                <a:solidFill>
                  <a:srgbClr val="16203A"/>
                </a:solidFill>
                <a:latin typeface="Arial"/>
              </a:rPr>
              <a:t>cache file</a:t>
            </a:r>
            <a:r>
              <a:rPr sz="2000" b="0" i="0">
                <a:solidFill>
                  <a:srgbClr val="16203A"/>
                </a:solidFill>
                <a:latin typeface="Arial"/>
              </a:rPr>
              <a:t>; the next tool reads the file, not the conversation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14804A"/>
                </a:solidFill>
                <a:latin typeface="Arial"/>
              </a:rPr>
              <a:t>✓  </a:t>
            </a:r>
            <a:r>
              <a:rPr sz="2000" b="0" i="0">
                <a:solidFill>
                  <a:srgbClr val="16203A"/>
                </a:solidFill>
                <a:latin typeface="Arial"/>
              </a:rPr>
              <a:t>Every agent step stays small → fast, cheap, and inside the free tier's rate limits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06 · THE AGENT LOOP — 1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6203A"/>
                </a:solidFill>
                <a:latin typeface="Arial"/>
              </a:rPr>
              <a:t>The agent loop, </a:t>
            </a:r>
            <a:r>
              <a:rPr sz="4200" b="1" i="0">
                <a:solidFill>
                  <a:srgbClr val="3B5BDB"/>
                </a:solidFill>
                <a:latin typeface="Arial"/>
              </a:rPr>
              <a:t>step by step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63040" y="2103120"/>
            <a:ext cx="9235440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900" b="1" i="0">
                <a:solidFill>
                  <a:srgbClr val="16203A"/>
                </a:solidFill>
                <a:latin typeface="Arial"/>
              </a:rPr>
              <a:t>1 · You ask in plain language</a:t>
            </a:r>
          </a:p>
          <a:p>
            <a:pPr algn="ctr"/>
            <a:r>
              <a:rPr sz="1400" b="0" i="0">
                <a:solidFill>
                  <a:srgbClr val="5A6478"/>
                </a:solidFill>
                <a:latin typeface="Arial"/>
              </a:rPr>
              <a:t>"find remote python jobs, show top 3"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63040" y="3182112"/>
            <a:ext cx="9235440" cy="932688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900" b="1" i="0">
                <a:solidFill>
                  <a:srgbClr val="16203A"/>
                </a:solidFill>
                <a:latin typeface="Arial"/>
              </a:rPr>
              <a:t>2 · The AI sees the six tool descriptions</a:t>
            </a:r>
          </a:p>
          <a:p>
            <a:pPr algn="ctr"/>
            <a:r>
              <a:rPr sz="1400" b="0" i="0">
                <a:solidFill>
                  <a:srgbClr val="5A6478"/>
                </a:solidFill>
                <a:latin typeface="Arial"/>
              </a:rPr>
              <a:t>and picks a tool + arguments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4261104"/>
            <a:ext cx="9235440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900" b="1" i="0">
                <a:solidFill>
                  <a:srgbClr val="16203A"/>
                </a:solidFill>
                <a:latin typeface="Arial"/>
              </a:rPr>
              <a:t>3 · Our code runs the real function</a:t>
            </a:r>
          </a:p>
          <a:p>
            <a:pPr algn="ctr"/>
            <a:r>
              <a:rPr sz="1400" b="0" i="0">
                <a:solidFill>
                  <a:srgbClr val="5A6478"/>
                </a:solidFill>
                <a:latin typeface="Arial"/>
              </a:rPr>
              <a:t>the AI only asks — it never executes anything itself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5340096"/>
            <a:ext cx="9235440" cy="932688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900" b="1" i="0">
                <a:solidFill>
                  <a:srgbClr val="16203A"/>
                </a:solidFill>
                <a:latin typeface="Arial"/>
              </a:rPr>
              <a:t>4 · Result goes back in; repeat until it can answer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06 · THE AGENT LOOP —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6203A"/>
                </a:solidFill>
                <a:latin typeface="Arial"/>
              </a:rPr>
              <a:t>The entire agent is </a:t>
            </a:r>
            <a:r>
              <a:rPr sz="3400" b="1" i="0">
                <a:solidFill>
                  <a:srgbClr val="3B5BDB"/>
                </a:solidFill>
                <a:latin typeface="Arial"/>
              </a:rPr>
              <a:t>~40 lines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965960"/>
            <a:ext cx="9966960" cy="4160520"/>
          </a:xfrm>
          <a:prstGeom prst="roundRect">
            <a:avLst>
              <a:gd name="adj" fmla="val 6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201168" bIns="146304" rtlCol="0" anchor="ctr"/>
          <a:lstStyle/>
          <a:p>
            <a:pPr algn="l"/>
            <a:r>
              <a:rPr sz="1500" b="0" i="0" dirty="0">
                <a:solidFill>
                  <a:srgbClr val="E8ECF7"/>
                </a:solidFill>
                <a:latin typeface="Courier New"/>
              </a:rPr>
              <a:t>messages = [SYSTEM_PROMPT, </a:t>
            </a:r>
            <a:r>
              <a:rPr sz="1500" b="0" i="0" dirty="0" err="1">
                <a:solidFill>
                  <a:srgbClr val="E8ECF7"/>
                </a:solidFill>
                <a:latin typeface="Courier New"/>
              </a:rPr>
              <a:t>user_request</a:t>
            </a:r>
            <a:r>
              <a:rPr sz="1500" b="0" i="0" dirty="0">
                <a:solidFill>
                  <a:srgbClr val="E8ECF7"/>
                </a:solidFill>
                <a:latin typeface="Courier New"/>
              </a:rPr>
              <a:t>]</a:t>
            </a:r>
          </a:p>
          <a:p>
            <a:pPr algn="l"/>
            <a:r>
              <a:rPr sz="1500" b="0" i="0" dirty="0">
                <a:solidFill>
                  <a:srgbClr val="E8ECF7"/>
                </a:solidFill>
                <a:latin typeface="Courier New"/>
              </a:rPr>
              <a:t>tools    = </a:t>
            </a:r>
            <a:r>
              <a:rPr sz="1500" b="0" i="0" dirty="0" err="1">
                <a:solidFill>
                  <a:srgbClr val="E8ECF7"/>
                </a:solidFill>
                <a:latin typeface="Courier New"/>
              </a:rPr>
              <a:t>registry.schemas</a:t>
            </a:r>
            <a:r>
              <a:rPr sz="1500" b="0" i="0" dirty="0">
                <a:solidFill>
                  <a:srgbClr val="E8ECF7"/>
                </a:solidFill>
                <a:latin typeface="Courier New"/>
              </a:rPr>
              <a:t>()</a:t>
            </a:r>
          </a:p>
          <a:p>
            <a:pPr algn="l"/>
            <a:endParaRPr sz="1500" b="0" i="0" dirty="0">
              <a:solidFill>
                <a:srgbClr val="E8ECF7"/>
              </a:solidFill>
              <a:latin typeface="Courier New"/>
            </a:endParaRPr>
          </a:p>
          <a:p>
            <a:pPr algn="l"/>
            <a:r>
              <a:rPr sz="1500" b="0" i="0" dirty="0">
                <a:solidFill>
                  <a:srgbClr val="7EA8FF"/>
                </a:solidFill>
                <a:latin typeface="Courier New"/>
              </a:rPr>
              <a:t>for _ in range(</a:t>
            </a:r>
            <a:r>
              <a:rPr sz="1500" b="0" i="0" dirty="0" err="1">
                <a:solidFill>
                  <a:srgbClr val="7EA8FF"/>
                </a:solidFill>
                <a:latin typeface="Courier New"/>
              </a:rPr>
              <a:t>max_steps</a:t>
            </a:r>
            <a:r>
              <a:rPr sz="1500" b="0" i="0" dirty="0">
                <a:solidFill>
                  <a:srgbClr val="7EA8FF"/>
                </a:solidFill>
                <a:latin typeface="Courier New"/>
              </a:rPr>
              <a:t>):</a:t>
            </a:r>
            <a:r>
              <a:rPr sz="1500" b="0" i="0" dirty="0">
                <a:solidFill>
                  <a:srgbClr val="8FA0C7"/>
                </a:solidFill>
                <a:latin typeface="Courier New"/>
              </a:rPr>
              <a:t>            # 8 — a hard budget</a:t>
            </a:r>
          </a:p>
          <a:p>
            <a:pPr algn="l"/>
            <a:r>
              <a:rPr sz="1500" b="0" i="0" dirty="0">
                <a:solidFill>
                  <a:srgbClr val="E8ECF7"/>
                </a:solidFill>
                <a:latin typeface="Courier New"/>
              </a:rPr>
              <a:t>    msg = </a:t>
            </a:r>
            <a:r>
              <a:rPr sz="1500" b="0" i="0" dirty="0" err="1">
                <a:solidFill>
                  <a:srgbClr val="E8ECF7"/>
                </a:solidFill>
                <a:latin typeface="Courier New"/>
              </a:rPr>
              <a:t>llm.chat</a:t>
            </a:r>
            <a:r>
              <a:rPr sz="1500" b="0" i="0" dirty="0">
                <a:solidFill>
                  <a:srgbClr val="E8ECF7"/>
                </a:solidFill>
                <a:latin typeface="Courier New"/>
              </a:rPr>
              <a:t>(messages, tools=tools,</a:t>
            </a:r>
          </a:p>
          <a:p>
            <a:pPr algn="l"/>
            <a:r>
              <a:rPr sz="1500" b="0" i="0" dirty="0">
                <a:solidFill>
                  <a:srgbClr val="E8ECF7"/>
                </a:solidFill>
                <a:latin typeface="Courier New"/>
              </a:rPr>
              <a:t>                   </a:t>
            </a:r>
            <a:r>
              <a:rPr sz="1500" b="0" i="0" dirty="0" err="1">
                <a:solidFill>
                  <a:srgbClr val="E8ECF7"/>
                </a:solidFill>
                <a:latin typeface="Courier New"/>
              </a:rPr>
              <a:t>tool_choice</a:t>
            </a:r>
            <a:r>
              <a:rPr sz="1500" b="0" i="0" dirty="0">
                <a:solidFill>
                  <a:srgbClr val="E8ECF7"/>
                </a:solidFill>
                <a:latin typeface="Courier New"/>
              </a:rPr>
              <a:t>="auto", temperature=0.2)</a:t>
            </a:r>
          </a:p>
          <a:p>
            <a:pPr algn="l"/>
            <a:r>
              <a:rPr sz="1500" b="0" i="0" dirty="0">
                <a:solidFill>
                  <a:srgbClr val="7EA8FF"/>
                </a:solidFill>
                <a:latin typeface="Courier New"/>
              </a:rPr>
              <a:t>    if not </a:t>
            </a:r>
            <a:r>
              <a:rPr sz="1500" b="0" i="0" dirty="0" err="1">
                <a:solidFill>
                  <a:srgbClr val="7EA8FF"/>
                </a:solidFill>
                <a:latin typeface="Courier New"/>
              </a:rPr>
              <a:t>msg.tool_calls</a:t>
            </a:r>
            <a:r>
              <a:rPr sz="1500" b="0" i="0" dirty="0">
                <a:solidFill>
                  <a:srgbClr val="7EA8FF"/>
                </a:solidFill>
                <a:latin typeface="Courier New"/>
              </a:rPr>
              <a:t>:</a:t>
            </a:r>
            <a:r>
              <a:rPr sz="1500" b="0" i="0" dirty="0">
                <a:solidFill>
                  <a:srgbClr val="8FA0C7"/>
                </a:solidFill>
                <a:latin typeface="Courier New"/>
              </a:rPr>
              <a:t>        # no tool wanted =</a:t>
            </a:r>
          </a:p>
          <a:p>
            <a:pPr algn="l"/>
            <a:r>
              <a:rPr sz="1500" b="0" i="0" dirty="0">
                <a:solidFill>
                  <a:srgbClr val="5ED598"/>
                </a:solidFill>
                <a:latin typeface="Courier New"/>
              </a:rPr>
              <a:t>        return </a:t>
            </a:r>
            <a:r>
              <a:rPr sz="1500" b="0" i="0" dirty="0" err="1">
                <a:solidFill>
                  <a:srgbClr val="5ED598"/>
                </a:solidFill>
                <a:latin typeface="Courier New"/>
              </a:rPr>
              <a:t>msg.content</a:t>
            </a:r>
            <a:r>
              <a:rPr sz="1500" b="0" i="0" dirty="0">
                <a:solidFill>
                  <a:srgbClr val="8FA0C7"/>
                </a:solidFill>
                <a:latin typeface="Courier New"/>
              </a:rPr>
              <a:t>         # the answer is ready</a:t>
            </a:r>
          </a:p>
          <a:p>
            <a:pPr algn="l"/>
            <a:r>
              <a:rPr sz="1500" b="0" i="0" dirty="0">
                <a:solidFill>
                  <a:srgbClr val="E8ECF7"/>
                </a:solidFill>
                <a:latin typeface="Courier New"/>
              </a:rPr>
              <a:t>    </a:t>
            </a:r>
            <a:r>
              <a:rPr sz="1500" b="0" i="0" dirty="0" err="1">
                <a:solidFill>
                  <a:srgbClr val="E8ECF7"/>
                </a:solidFill>
                <a:latin typeface="Courier New"/>
              </a:rPr>
              <a:t>messages.append</a:t>
            </a:r>
            <a:r>
              <a:rPr sz="1500" b="0" i="0" dirty="0">
                <a:solidFill>
                  <a:srgbClr val="E8ECF7"/>
                </a:solidFill>
                <a:latin typeface="Courier New"/>
              </a:rPr>
              <a:t>(</a:t>
            </a:r>
            <a:r>
              <a:rPr sz="1500" b="0" i="0" dirty="0" err="1">
                <a:solidFill>
                  <a:srgbClr val="E8ECF7"/>
                </a:solidFill>
                <a:latin typeface="Courier New"/>
              </a:rPr>
              <a:t>assistant_turn</a:t>
            </a:r>
            <a:r>
              <a:rPr sz="1500" b="0" i="0" dirty="0">
                <a:solidFill>
                  <a:srgbClr val="E8ECF7"/>
                </a:solidFill>
                <a:latin typeface="Courier New"/>
              </a:rPr>
              <a:t>(msg))</a:t>
            </a:r>
          </a:p>
          <a:p>
            <a:pPr algn="l"/>
            <a:r>
              <a:rPr sz="1500" b="0" i="0" dirty="0">
                <a:solidFill>
                  <a:srgbClr val="7EA8FF"/>
                </a:solidFill>
                <a:latin typeface="Courier New"/>
              </a:rPr>
              <a:t>    for call in </a:t>
            </a:r>
            <a:r>
              <a:rPr sz="1500" b="0" i="0" dirty="0" err="1">
                <a:solidFill>
                  <a:srgbClr val="7EA8FF"/>
                </a:solidFill>
                <a:latin typeface="Courier New"/>
              </a:rPr>
              <a:t>msg.tool_calls</a:t>
            </a:r>
            <a:r>
              <a:rPr sz="1500" b="0" i="0" dirty="0">
                <a:solidFill>
                  <a:srgbClr val="7EA8FF"/>
                </a:solidFill>
                <a:latin typeface="Courier New"/>
              </a:rPr>
              <a:t>:</a:t>
            </a:r>
          </a:p>
          <a:p>
            <a:pPr algn="l"/>
            <a:r>
              <a:rPr sz="1500" b="0" i="0" dirty="0">
                <a:solidFill>
                  <a:srgbClr val="E8ECF7"/>
                </a:solidFill>
                <a:latin typeface="Courier New"/>
              </a:rPr>
              <a:t>        result = </a:t>
            </a:r>
            <a:r>
              <a:rPr sz="1500" b="0" i="0" dirty="0" err="1">
                <a:solidFill>
                  <a:srgbClr val="E8ECF7"/>
                </a:solidFill>
                <a:latin typeface="Courier New"/>
              </a:rPr>
              <a:t>registry.dispatch</a:t>
            </a:r>
            <a:r>
              <a:rPr sz="1500" b="0" i="0" dirty="0">
                <a:solidFill>
                  <a:srgbClr val="E8ECF7"/>
                </a:solidFill>
                <a:latin typeface="Courier New"/>
              </a:rPr>
              <a:t>(</a:t>
            </a:r>
            <a:r>
              <a:rPr sz="1500" b="0" i="0" dirty="0" err="1">
                <a:solidFill>
                  <a:srgbClr val="E8ECF7"/>
                </a:solidFill>
                <a:latin typeface="Courier New"/>
              </a:rPr>
              <a:t>call.name</a:t>
            </a:r>
            <a:r>
              <a:rPr sz="1500" b="0" i="0" dirty="0">
                <a:solidFill>
                  <a:srgbClr val="E8ECF7"/>
                </a:solidFill>
                <a:latin typeface="Courier New"/>
              </a:rPr>
              <a:t>, </a:t>
            </a:r>
            <a:r>
              <a:rPr sz="1500" b="0" i="0" dirty="0" err="1">
                <a:solidFill>
                  <a:srgbClr val="E8ECF7"/>
                </a:solidFill>
                <a:latin typeface="Courier New"/>
              </a:rPr>
              <a:t>call.args</a:t>
            </a:r>
            <a:r>
              <a:rPr sz="1500" b="0" i="0" dirty="0">
                <a:solidFill>
                  <a:srgbClr val="E8ECF7"/>
                </a:solidFill>
                <a:latin typeface="Courier New"/>
              </a:rPr>
              <a:t>)</a:t>
            </a:r>
          </a:p>
          <a:p>
            <a:pPr algn="l"/>
            <a:r>
              <a:rPr sz="1500" b="0" i="0" dirty="0">
                <a:solidFill>
                  <a:srgbClr val="E8ECF7"/>
                </a:solidFill>
                <a:latin typeface="Courier New"/>
              </a:rPr>
              <a:t>        </a:t>
            </a:r>
            <a:r>
              <a:rPr sz="1500" b="0" i="0" dirty="0" err="1">
                <a:solidFill>
                  <a:srgbClr val="E8ECF7"/>
                </a:solidFill>
                <a:latin typeface="Courier New"/>
              </a:rPr>
              <a:t>messages.append</a:t>
            </a:r>
            <a:r>
              <a:rPr sz="1500" b="0" i="0" dirty="0">
                <a:solidFill>
                  <a:srgbClr val="E8ECF7"/>
                </a:solidFill>
                <a:latin typeface="Courier New"/>
              </a:rPr>
              <a:t>({"role": "tool", "content": result})</a:t>
            </a:r>
          </a:p>
          <a:p>
            <a:pPr algn="l"/>
            <a:endParaRPr sz="1500" b="0" i="0" dirty="0">
              <a:solidFill>
                <a:srgbClr val="E8ECF7"/>
              </a:solidFill>
              <a:latin typeface="Courier New"/>
            </a:endParaRPr>
          </a:p>
          <a:p>
            <a:pPr algn="l"/>
            <a:r>
              <a:rPr sz="1500" b="0" i="0" dirty="0">
                <a:solidFill>
                  <a:srgbClr val="5ED598"/>
                </a:solidFill>
                <a:latin typeface="Courier New"/>
              </a:rPr>
              <a:t>return "Reached the step limit…"</a:t>
            </a:r>
            <a:r>
              <a:rPr sz="1500" b="0" i="0" dirty="0">
                <a:solidFill>
                  <a:srgbClr val="8FA0C7"/>
                </a:solidFill>
                <a:latin typeface="Courier New"/>
              </a:rPr>
              <a:t>   # can never run away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06 · THE AGENT LOOP —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6203A"/>
                </a:solidFill>
                <a:latin typeface="Arial"/>
              </a:rPr>
              <a:t>The agent's memory is </a:t>
            </a:r>
            <a:r>
              <a:rPr sz="3400" b="1" i="0">
                <a:solidFill>
                  <a:srgbClr val="3B5BDB"/>
                </a:solidFill>
                <a:latin typeface="Arial"/>
              </a:rPr>
              <a:t>just this list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965960"/>
            <a:ext cx="9966960" cy="3429000"/>
          </a:xfrm>
          <a:prstGeom prst="roundRect">
            <a:avLst>
              <a:gd name="adj" fmla="val 6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201168" bIns="146304" rtlCol="0" anchor="ctr"/>
          <a:lstStyle/>
          <a:p>
            <a:pPr algn="l"/>
            <a:r>
              <a:rPr sz="1600" b="0" i="0">
                <a:solidFill>
                  <a:srgbClr val="8FA0C7"/>
                </a:solidFill>
                <a:latin typeface="Courier New"/>
              </a:rPr>
              <a:t>[system]     </a:t>
            </a:r>
            <a:r>
              <a:rPr sz="1600" b="0" i="0">
                <a:solidFill>
                  <a:srgbClr val="E8ECF7"/>
                </a:solidFill>
                <a:latin typeface="Courier New"/>
              </a:rPr>
              <a:t>You are a job-application assistant…</a:t>
            </a:r>
          </a:p>
          <a:p>
            <a:pPr algn="l"/>
            <a:r>
              <a:rPr sz="1600" b="0" i="0">
                <a:solidFill>
                  <a:srgbClr val="8FA0C7"/>
                </a:solidFill>
                <a:latin typeface="Courier New"/>
              </a:rPr>
              <a:t>[user]       </a:t>
            </a:r>
            <a:r>
              <a:rPr sz="1600" b="0" i="0">
                <a:solidFill>
                  <a:srgbClr val="5ED598"/>
                </a:solidFill>
                <a:latin typeface="Courier New"/>
              </a:rPr>
              <a:t>"find remote python jobs, show top 3"</a:t>
            </a:r>
          </a:p>
          <a:p>
            <a:pPr algn="l"/>
            <a:r>
              <a:rPr sz="1600" b="0" i="0">
                <a:solidFill>
                  <a:srgbClr val="8FA0C7"/>
                </a:solidFill>
                <a:latin typeface="Courier New"/>
              </a:rPr>
              <a:t>[assistant]  </a:t>
            </a:r>
            <a:r>
              <a:rPr sz="1600" b="0" i="0">
                <a:solidFill>
                  <a:srgbClr val="7EA8FF"/>
                </a:solidFill>
                <a:latin typeface="Courier New"/>
              </a:rPr>
              <a:t>→ search_jobs</a:t>
            </a:r>
            <a:r>
              <a:rPr sz="1600" b="0" i="0">
                <a:solidFill>
                  <a:srgbClr val="E8ECF7"/>
                </a:solidFill>
                <a:latin typeface="Courier New"/>
              </a:rPr>
              <a:t>({"keywords": ["python"]})</a:t>
            </a:r>
          </a:p>
          <a:p>
            <a:pPr algn="l"/>
            <a:r>
              <a:rPr sz="1600" b="0" i="0">
                <a:solidFill>
                  <a:srgbClr val="8FA0C7"/>
                </a:solidFill>
                <a:latin typeface="Courier New"/>
              </a:rPr>
              <a:t>[tool]       </a:t>
            </a:r>
            <a:r>
              <a:rPr sz="1600" b="0" i="0">
                <a:solidFill>
                  <a:srgbClr val="E8ECF7"/>
                </a:solidFill>
                <a:latin typeface="Courier New"/>
              </a:rPr>
              <a:t>{"found": 14, "sample": […]}</a:t>
            </a:r>
          </a:p>
          <a:p>
            <a:pPr algn="l"/>
            <a:r>
              <a:rPr sz="1600" b="0" i="0">
                <a:solidFill>
                  <a:srgbClr val="8FA0C7"/>
                </a:solidFill>
                <a:latin typeface="Courier New"/>
              </a:rPr>
              <a:t>[assistant]  </a:t>
            </a:r>
            <a:r>
              <a:rPr sz="1600" b="0" i="0">
                <a:solidFill>
                  <a:srgbClr val="7EA8FF"/>
                </a:solidFill>
                <a:latin typeface="Courier New"/>
              </a:rPr>
              <a:t>→ rank_jobs</a:t>
            </a:r>
            <a:r>
              <a:rPr sz="1600" b="0" i="0">
                <a:solidFill>
                  <a:srgbClr val="E8ECF7"/>
                </a:solidFill>
                <a:latin typeface="Courier New"/>
              </a:rPr>
              <a:t>({"top": 3})</a:t>
            </a:r>
          </a:p>
          <a:p>
            <a:pPr algn="l"/>
            <a:r>
              <a:rPr sz="1600" b="0" i="0">
                <a:solidFill>
                  <a:srgbClr val="8FA0C7"/>
                </a:solidFill>
                <a:latin typeface="Courier New"/>
              </a:rPr>
              <a:t>[tool]       </a:t>
            </a:r>
            <a:r>
              <a:rPr sz="1600" b="0" i="0">
                <a:solidFill>
                  <a:srgbClr val="E8ECF7"/>
                </a:solidFill>
                <a:latin typeface="Courier New"/>
              </a:rPr>
              <a:t>{"ranked": 14, "top": […]}</a:t>
            </a:r>
          </a:p>
          <a:p>
            <a:pPr algn="l"/>
            <a:r>
              <a:rPr sz="1600" b="0" i="0">
                <a:solidFill>
                  <a:srgbClr val="8FA0C7"/>
                </a:solidFill>
                <a:latin typeface="Courier New"/>
              </a:rPr>
              <a:t>[assistant]  </a:t>
            </a:r>
            <a:r>
              <a:rPr sz="1600" b="0" i="0">
                <a:solidFill>
                  <a:srgbClr val="5ED598"/>
                </a:solidFill>
                <a:latin typeface="Courier New"/>
              </a:rPr>
              <a:t>"Your top 3 matches are: …"</a:t>
            </a:r>
            <a:r>
              <a:rPr sz="1600" b="0" i="0">
                <a:solidFill>
                  <a:srgbClr val="8FA0C7"/>
                </a:solidFill>
                <a:latin typeface="Courier New"/>
              </a:rPr>
              <a:t>   ← plain text: done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57784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14804A"/>
                </a:solidFill>
                <a:latin typeface="Arial"/>
              </a:rPr>
              <a:t>✓  </a:t>
            </a:r>
            <a:r>
              <a:rPr sz="2000" b="0" i="0">
                <a:solidFill>
                  <a:srgbClr val="16203A"/>
                </a:solidFill>
                <a:latin typeface="Arial"/>
              </a:rPr>
              <a:t>The model is </a:t>
            </a:r>
            <a:r>
              <a:rPr sz="2000" b="1" i="0">
                <a:solidFill>
                  <a:srgbClr val="16203A"/>
                </a:solidFill>
                <a:latin typeface="Arial"/>
              </a:rPr>
              <a:t>stateless</a:t>
            </a:r>
            <a:r>
              <a:rPr sz="2000" b="0" i="0">
                <a:solidFill>
                  <a:srgbClr val="16203A"/>
                </a:solidFill>
                <a:latin typeface="Arial"/>
              </a:rPr>
              <a:t> — each step it re-reads this whole list and decides the next move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14804A"/>
                </a:solidFill>
                <a:latin typeface="Arial"/>
              </a:rPr>
              <a:t>✓  </a:t>
            </a:r>
            <a:r>
              <a:rPr sz="2000" b="0" i="0">
                <a:solidFill>
                  <a:srgbClr val="16203A"/>
                </a:solidFill>
                <a:latin typeface="Arial"/>
              </a:rPr>
              <a:t>Nothing else persists between steps; when the list ends in plain text, the loop ends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06 · THE AGENT LOOP — 4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6203A"/>
                </a:solidFill>
                <a:latin typeface="Arial"/>
              </a:rPr>
              <a:t>A real recorded run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057400"/>
            <a:ext cx="9966960" cy="4114800"/>
          </a:xfrm>
          <a:prstGeom prst="roundRect">
            <a:avLst>
              <a:gd name="adj" fmla="val 6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201168" bIns="146304" rtlCol="0" anchor="ctr"/>
          <a:lstStyle/>
          <a:p>
            <a:pPr algn="l"/>
            <a:r>
              <a:rPr sz="1700" b="0" i="0">
                <a:solidFill>
                  <a:srgbClr val="E8ECF7"/>
                </a:solidFill>
                <a:latin typeface="Courier New"/>
              </a:rPr>
              <a:t>$ agent </a:t>
            </a:r>
            <a:r>
              <a:rPr sz="1700" b="0" i="0">
                <a:solidFill>
                  <a:srgbClr val="5ED598"/>
                </a:solidFill>
                <a:latin typeface="Courier New"/>
              </a:rPr>
              <a:t>"find remote python jobs,</a:t>
            </a:r>
          </a:p>
          <a:p>
            <a:pPr algn="l"/>
            <a:r>
              <a:rPr sz="1700" b="0" i="0">
                <a:solidFill>
                  <a:srgbClr val="5ED598"/>
                </a:solidFill>
                <a:latin typeface="Courier New"/>
              </a:rPr>
              <a:t>         show top 3, don't apply"</a:t>
            </a:r>
          </a:p>
          <a:p>
            <a:pPr algn="l"/>
            <a:endParaRPr sz="1700" b="0" i="0">
              <a:solidFill>
                <a:srgbClr val="5ED598"/>
              </a:solidFill>
              <a:latin typeface="Courier New"/>
            </a:endParaRPr>
          </a:p>
          <a:p>
            <a:pPr algn="l"/>
            <a:r>
              <a:rPr sz="1700" b="0" i="0">
                <a:solidFill>
                  <a:srgbClr val="E8ECF7"/>
                </a:solidFill>
                <a:latin typeface="Courier New"/>
              </a:rPr>
              <a:t>→ tool: </a:t>
            </a:r>
            <a:r>
              <a:rPr sz="1700" b="0" i="0">
                <a:solidFill>
                  <a:srgbClr val="7EA8FF"/>
                </a:solidFill>
                <a:latin typeface="Courier New"/>
              </a:rPr>
              <a:t>search_jobs</a:t>
            </a:r>
            <a:r>
              <a:rPr sz="1700" b="0" i="0">
                <a:solidFill>
                  <a:srgbClr val="E8ECF7"/>
                </a:solidFill>
                <a:latin typeface="Courier New"/>
              </a:rPr>
              <a:t>({"keywords": ["python"],</a:t>
            </a:r>
          </a:p>
          <a:p>
            <a:pPr algn="l"/>
            <a:r>
              <a:rPr sz="1700" b="0" i="0">
                <a:solidFill>
                  <a:srgbClr val="E8ECF7"/>
                </a:solidFill>
                <a:latin typeface="Courier New"/>
              </a:rPr>
              <a:t>               "remote": true})</a:t>
            </a:r>
          </a:p>
          <a:p>
            <a:pPr algn="l"/>
            <a:r>
              <a:rPr sz="1700" b="0" i="0">
                <a:solidFill>
                  <a:srgbClr val="8FA0C7"/>
                </a:solidFill>
                <a:latin typeface="Courier New"/>
              </a:rPr>
              <a:t>   {"found": 14, ...}</a:t>
            </a:r>
          </a:p>
          <a:p>
            <a:pPr algn="l"/>
            <a:r>
              <a:rPr sz="1700" b="0" i="0">
                <a:solidFill>
                  <a:srgbClr val="E8ECF7"/>
                </a:solidFill>
                <a:latin typeface="Courier New"/>
              </a:rPr>
              <a:t>→ tool: </a:t>
            </a:r>
            <a:r>
              <a:rPr sz="1700" b="0" i="0">
                <a:solidFill>
                  <a:srgbClr val="7EA8FF"/>
                </a:solidFill>
                <a:latin typeface="Courier New"/>
              </a:rPr>
              <a:t>rank_jobs</a:t>
            </a:r>
            <a:r>
              <a:rPr sz="1700" b="0" i="0">
                <a:solidFill>
                  <a:srgbClr val="E8ECF7"/>
                </a:solidFill>
                <a:latin typeface="Courier New"/>
              </a:rPr>
              <a:t>({"top": 3})</a:t>
            </a:r>
          </a:p>
          <a:p>
            <a:pPr algn="l"/>
            <a:r>
              <a:rPr sz="1700" b="0" i="0">
                <a:solidFill>
                  <a:srgbClr val="8FA0C7"/>
                </a:solidFill>
                <a:latin typeface="Courier New"/>
              </a:rPr>
              <a:t>   {"ranked": 14, ...}</a:t>
            </a:r>
          </a:p>
          <a:p>
            <a:pPr algn="l"/>
            <a:r>
              <a:rPr sz="1700" b="0" i="0">
                <a:solidFill>
                  <a:srgbClr val="E8ECF7"/>
                </a:solidFill>
                <a:latin typeface="Courier New"/>
              </a:rPr>
              <a:t>→ tool: </a:t>
            </a:r>
            <a:r>
              <a:rPr sz="1700" b="0" i="0">
                <a:solidFill>
                  <a:srgbClr val="7EA8FF"/>
                </a:solidFill>
                <a:latin typeface="Courier New"/>
              </a:rPr>
              <a:t>list_ranked</a:t>
            </a:r>
            <a:r>
              <a:rPr sz="1700" b="0" i="0">
                <a:solidFill>
                  <a:srgbClr val="E8ECF7"/>
                </a:solidFill>
                <a:latin typeface="Courier New"/>
              </a:rPr>
              <a:t>({"top": 3})</a:t>
            </a:r>
          </a:p>
          <a:p>
            <a:pPr algn="l"/>
            <a:endParaRPr sz="1700" b="0" i="0">
              <a:solidFill>
                <a:srgbClr val="E8ECF7"/>
              </a:solidFill>
              <a:latin typeface="Courier New"/>
            </a:endParaRPr>
          </a:p>
          <a:p>
            <a:pPr algn="l"/>
            <a:r>
              <a:rPr sz="1700" b="0" i="0">
                <a:solidFill>
                  <a:srgbClr val="5ED598"/>
                </a:solidFill>
                <a:latin typeface="Courier New"/>
              </a:rPr>
              <a:t>"Your top 3 matches are: …"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07 · SURVIVING THE FREE TIER — 1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6203A"/>
                </a:solidFill>
                <a:latin typeface="Arial"/>
              </a:rPr>
              <a:t>Every AI call goes through </a:t>
            </a:r>
            <a:r>
              <a:rPr sz="3400" b="1" i="0">
                <a:solidFill>
                  <a:srgbClr val="3B5BDB"/>
                </a:solidFill>
                <a:latin typeface="Arial"/>
              </a:rPr>
              <a:t>one gate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286000"/>
            <a:ext cx="2416302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700" b="1" i="0">
                <a:solidFill>
                  <a:srgbClr val="16203A"/>
                </a:solidFill>
                <a:latin typeface="Arial"/>
              </a:rPr>
              <a:t>Any specialist</a:t>
            </a:r>
          </a:p>
          <a:p>
            <a:pPr algn="ctr"/>
            <a:r>
              <a:rPr sz="1200" b="0" i="0">
                <a:solidFill>
                  <a:srgbClr val="5A6478"/>
                </a:solidFill>
                <a:latin typeface="Arial"/>
              </a:rPr>
              <a:t>ranker, tailor, reviewer… none talk to the API directly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147822" y="294436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486150" y="2286000"/>
            <a:ext cx="2416302" cy="155448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700" b="1" i="0">
                <a:solidFill>
                  <a:srgbClr val="16203A"/>
                </a:solidFill>
                <a:latin typeface="Arial"/>
              </a:rPr>
              <a:t>Throttle</a:t>
            </a:r>
          </a:p>
          <a:p>
            <a:pPr algn="ctr"/>
            <a:r>
              <a:rPr sz="1200" b="0" i="0">
                <a:solidFill>
                  <a:srgbClr val="5A6478"/>
                </a:solidFill>
                <a:latin typeface="Arial"/>
              </a:rPr>
              <a:t>one shared clock — every thread waits its ≥2s slot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48172" y="294436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86500" y="2286000"/>
            <a:ext cx="2416302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700" b="1" i="0">
                <a:solidFill>
                  <a:srgbClr val="16203A"/>
                </a:solidFill>
                <a:latin typeface="Arial"/>
              </a:rPr>
              <a:t>Groq API</a:t>
            </a:r>
          </a:p>
          <a:p>
            <a:pPr algn="ctr"/>
            <a:r>
              <a:rPr sz="1200" b="0" i="0">
                <a:solidFill>
                  <a:srgbClr val="5A6478"/>
                </a:solidFill>
                <a:latin typeface="Arial"/>
              </a:rPr>
              <a:t>llama-3.3-70b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48522" y="294436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086850" y="2286000"/>
            <a:ext cx="2416302" cy="155448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700" b="1" i="0">
                <a:solidFill>
                  <a:srgbClr val="16203A"/>
                </a:solidFill>
                <a:latin typeface="Arial"/>
              </a:rPr>
              <a:t>On 429 / 5xx</a:t>
            </a:r>
          </a:p>
          <a:p>
            <a:pPr algn="ctr"/>
            <a:r>
              <a:rPr sz="1200" b="0" i="0">
                <a:solidFill>
                  <a:srgbClr val="5A6478"/>
                </a:solidFill>
                <a:latin typeface="Arial"/>
              </a:rPr>
              <a:t>backoff 2s→30s, honors Retry-After, ≤5 retries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14804A"/>
                </a:solidFill>
                <a:latin typeface="Arial"/>
              </a:rPr>
              <a:t>✓  </a:t>
            </a:r>
            <a:r>
              <a:rPr sz="2000" b="0" i="0">
                <a:solidFill>
                  <a:srgbClr val="16203A"/>
                </a:solidFill>
                <a:latin typeface="Arial"/>
              </a:rPr>
              <a:t>The clock is shared across threads — parallel work still queues </a:t>
            </a:r>
            <a:r>
              <a:rPr sz="2000" b="1" i="0">
                <a:solidFill>
                  <a:srgbClr val="16203A"/>
                </a:solidFill>
                <a:latin typeface="Arial"/>
              </a:rPr>
              <a:t>politely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14804A"/>
                </a:solidFill>
                <a:latin typeface="Arial"/>
              </a:rPr>
              <a:t>✓  </a:t>
            </a:r>
            <a:r>
              <a:rPr sz="2000" b="0" i="0">
                <a:solidFill>
                  <a:srgbClr val="16203A"/>
                </a:solidFill>
                <a:latin typeface="Arial"/>
              </a:rPr>
              <a:t>Only retryable errors retry (rate limit, overloaded, timeout); real bugs surface at once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8064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A6478"/>
                </a:solidFill>
                <a:latin typeface="Arial"/>
              </a:rPr>
              <a:t>The free tier budgets requests </a:t>
            </a:r>
            <a:r>
              <a:rPr sz="1600" b="1" i="0">
                <a:solidFill>
                  <a:srgbClr val="5A6478"/>
                </a:solidFill>
                <a:latin typeface="Arial"/>
              </a:rPr>
              <a:t>and</a:t>
            </a:r>
            <a:r>
              <a:rPr sz="1600" b="0" i="0">
                <a:solidFill>
                  <a:srgbClr val="5A6478"/>
                </a:solidFill>
                <a:latin typeface="Arial"/>
              </a:rPr>
              <a:t> tokens per minute — the whole design lives inside that.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07 · SURVIVING THE FREE TIER — 2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6203A"/>
                </a:solidFill>
                <a:latin typeface="Arial"/>
              </a:rPr>
              <a:t>Four rungs to </a:t>
            </a:r>
            <a:r>
              <a:rPr sz="3400" b="1" i="0">
                <a:solidFill>
                  <a:srgbClr val="3B5BDB"/>
                </a:solidFill>
                <a:latin typeface="Arial"/>
              </a:rPr>
              <a:t>reliable JSON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63040" y="2057400"/>
            <a:ext cx="92354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900" b="1" i="0">
                <a:solidFill>
                  <a:srgbClr val="16203A"/>
                </a:solidFill>
                <a:latin typeface="Arial"/>
              </a:rPr>
              <a:t>1 · Ask</a:t>
            </a:r>
          </a:p>
          <a:p>
            <a:pPr algn="ctr"/>
            <a:r>
              <a:rPr sz="1400" b="0" i="0">
                <a:solidFill>
                  <a:srgbClr val="5A6478"/>
                </a:solidFill>
                <a:latin typeface="Arial"/>
              </a:rPr>
              <a:t>every system prompt ends: "Respond with a single valid JSON object and nothing else."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63040" y="3063240"/>
            <a:ext cx="9235440" cy="86868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900" b="1" i="0">
                <a:solidFill>
                  <a:srgbClr val="16203A"/>
                </a:solidFill>
                <a:latin typeface="Arial"/>
              </a:rPr>
              <a:t>2 · Enforce</a:t>
            </a:r>
          </a:p>
          <a:p>
            <a:pPr algn="ctr"/>
            <a:r>
              <a:rPr sz="1400" b="0" i="0">
                <a:solidFill>
                  <a:srgbClr val="5A6478"/>
                </a:solidFill>
                <a:latin typeface="Arial"/>
              </a:rPr>
              <a:t>Groq's JSON mode rejects non-JSON output at the API level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4069080"/>
            <a:ext cx="92354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900" b="1" i="0">
                <a:solidFill>
                  <a:srgbClr val="16203A"/>
                </a:solidFill>
                <a:latin typeface="Arial"/>
              </a:rPr>
              <a:t>3 · Retry</a:t>
            </a:r>
          </a:p>
          <a:p>
            <a:pPr algn="ctr"/>
            <a:r>
              <a:rPr sz="1400" b="0" i="0">
                <a:solidFill>
                  <a:srgbClr val="5A6478"/>
                </a:solidFill>
                <a:latin typeface="Arial"/>
              </a:rPr>
              <a:t>JSON mode chokes on Hebrew quotes (ש"ח) — retry once without 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5074920"/>
            <a:ext cx="9235440" cy="86868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900" b="1" i="0">
                <a:solidFill>
                  <a:srgbClr val="16203A"/>
                </a:solidFill>
                <a:latin typeface="Arial"/>
              </a:rPr>
              <a:t>4 · Repair</a:t>
            </a:r>
          </a:p>
          <a:p>
            <a:pPr algn="ctr"/>
            <a:r>
              <a:rPr sz="1400" b="0" i="0">
                <a:solidFill>
                  <a:srgbClr val="5A6478"/>
                </a:solidFill>
                <a:latin typeface="Arial"/>
              </a:rPr>
              <a:t>extract {…} by regex · escape quotes between Hebrew letters · parse again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1722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A6478"/>
                </a:solidFill>
                <a:latin typeface="Arial"/>
              </a:rPr>
              <a:t>Only when every rung fails does the step fall back (e.g. untailored resume) — </a:t>
            </a:r>
            <a:r>
              <a:rPr sz="1600" b="1" i="0">
                <a:solidFill>
                  <a:srgbClr val="5A6478"/>
                </a:solidFill>
                <a:latin typeface="Arial"/>
              </a:rPr>
              <a:t>it never crashes</a:t>
            </a:r>
            <a:r>
              <a:rPr sz="1600" b="0" i="0">
                <a:solidFill>
                  <a:srgbClr val="5A6478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08 · THE AI CAST — 1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6203A"/>
                </a:solidFill>
                <a:latin typeface="Arial"/>
              </a:rPr>
              <a:t>Six specialists, </a:t>
            </a:r>
            <a:r>
              <a:rPr sz="4200" b="1" i="0">
                <a:solidFill>
                  <a:srgbClr val="3B5BDB"/>
                </a:solidFill>
                <a:latin typeface="Arial"/>
              </a:rPr>
              <a:t>not one genius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377440"/>
            <a:ext cx="3520440" cy="219456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2200" b="1" i="0">
                <a:solidFill>
                  <a:srgbClr val="16203A"/>
                </a:solidFill>
                <a:latin typeface="Arial"/>
              </a:rPr>
              <a:t>Ranker</a:t>
            </a:r>
          </a:p>
          <a:p>
            <a:pPr algn="ctr"/>
            <a:r>
              <a:rPr sz="1500" b="0" i="0">
                <a:solidFill>
                  <a:srgbClr val="5A6478"/>
                </a:solidFill>
                <a:latin typeface="Arial"/>
              </a:rPr>
              <a:t>reads a posting like a recruiter; judges fit 0–100 with strengths &amp; gaps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39" y="2377440"/>
            <a:ext cx="3520440" cy="219456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2200" b="1" i="0">
                <a:solidFill>
                  <a:srgbClr val="16203A"/>
                </a:solidFill>
                <a:latin typeface="Arial"/>
              </a:rPr>
              <a:t>Tailor</a:t>
            </a:r>
          </a:p>
          <a:p>
            <a:pPr algn="ctr"/>
            <a:r>
              <a:rPr sz="1500" b="0" i="0">
                <a:solidFill>
                  <a:srgbClr val="5A6478"/>
                </a:solidFill>
                <a:latin typeface="Arial"/>
              </a:rPr>
              <a:t>rewrites resume + cover letter for one job, in the posting's language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78" y="2377440"/>
            <a:ext cx="3520440" cy="219456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2200" b="1" i="0">
                <a:solidFill>
                  <a:srgbClr val="16203A"/>
                </a:solidFill>
                <a:latin typeface="Arial"/>
              </a:rPr>
              <a:t>Answerer</a:t>
            </a:r>
          </a:p>
          <a:p>
            <a:pPr algn="ctr"/>
            <a:r>
              <a:rPr sz="1500" b="0" i="0">
                <a:solidFill>
                  <a:srgbClr val="5A6478"/>
                </a:solidFill>
                <a:latin typeface="Arial"/>
              </a:rPr>
              <a:t>answers any form question from your profile — or honestly says “not in profile”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12064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16203A"/>
                </a:solidFill>
                <a:latin typeface="Arial"/>
              </a:rPr>
              <a:t>Each gets one narrow prompt and returns structured JSON — nothing free-form.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08 · THE AI CAST — 2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6203A"/>
                </a:solidFill>
                <a:latin typeface="Arial"/>
              </a:rPr>
              <a:t>…and the </a:t>
            </a:r>
            <a:r>
              <a:rPr sz="4200" b="1" i="0">
                <a:solidFill>
                  <a:srgbClr val="3B5BDB"/>
                </a:solidFill>
                <a:latin typeface="Arial"/>
              </a:rPr>
              <a:t>quality control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377440"/>
            <a:ext cx="3520440" cy="2194560"/>
          </a:xfrm>
          <a:prstGeom prst="roundRect">
            <a:avLst>
              <a:gd name="adj" fmla="val 12000"/>
            </a:avLst>
          </a:prstGeom>
          <a:solidFill>
            <a:srgbClr val="E3F2EA"/>
          </a:solidFill>
          <a:ln w="28575">
            <a:solidFill>
              <a:srgbClr val="148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2200" b="1" i="0">
                <a:solidFill>
                  <a:srgbClr val="16203A"/>
                </a:solidFill>
                <a:latin typeface="Arial"/>
              </a:rPr>
              <a:t>Reviewer</a:t>
            </a:r>
          </a:p>
          <a:p>
            <a:pPr algn="ctr"/>
            <a:r>
              <a:rPr sz="1500" b="0" i="0">
                <a:solidFill>
                  <a:srgbClr val="5A6478"/>
                </a:solidFill>
                <a:latin typeface="Arial"/>
              </a:rPr>
              <a:t>hunts invented facts, wrong company, wrong language in every draft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39" y="2377440"/>
            <a:ext cx="3520440" cy="2194560"/>
          </a:xfrm>
          <a:prstGeom prst="roundRect">
            <a:avLst>
              <a:gd name="adj" fmla="val 12000"/>
            </a:avLst>
          </a:prstGeom>
          <a:solidFill>
            <a:srgbClr val="E3F2EA"/>
          </a:solidFill>
          <a:ln w="28575">
            <a:solidFill>
              <a:srgbClr val="148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2200" b="1" i="0">
                <a:solidFill>
                  <a:srgbClr val="16203A"/>
                </a:solidFill>
                <a:latin typeface="Arial"/>
              </a:rPr>
              <a:t>Repairer</a:t>
            </a:r>
          </a:p>
          <a:p>
            <a:pPr algn="ctr"/>
            <a:r>
              <a:rPr sz="1500" b="0" i="0">
                <a:solidFill>
                  <a:srgbClr val="5A6478"/>
                </a:solidFill>
                <a:latin typeface="Arial"/>
              </a:rPr>
              <a:t>rewrites only what the Reviewer flagged — keeps the rest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78" y="2377440"/>
            <a:ext cx="3520440" cy="219456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2200" b="1" i="0">
                <a:solidFill>
                  <a:srgbClr val="16203A"/>
                </a:solidFill>
                <a:latin typeface="Arial"/>
              </a:rPr>
              <a:t>Company Scout</a:t>
            </a:r>
          </a:p>
          <a:p>
            <a:pPr algn="ctr"/>
            <a:r>
              <a:rPr sz="1500" b="0" i="0">
                <a:solidFill>
                  <a:srgbClr val="5A6478"/>
                </a:solidFill>
                <a:latin typeface="Arial"/>
              </a:rPr>
              <a:t>proposes employers in your country — each verified against real career APIs before 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12064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16203A"/>
                </a:solidFill>
                <a:latin typeface="Arial"/>
              </a:rPr>
              <a:t>The AI can propose; reality decides. Nothing unverified reaches you.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08 · THE AI CAST — 3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6203A"/>
                </a:solidFill>
                <a:latin typeface="Arial"/>
              </a:rPr>
              <a:t>Anatomy of a specialist: the Tailor's </a:t>
            </a:r>
            <a:r>
              <a:rPr sz="3200" b="1" i="0">
                <a:solidFill>
                  <a:srgbClr val="3B5BDB"/>
                </a:solidFill>
                <a:latin typeface="Arial"/>
              </a:rPr>
              <a:t>cage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17320" y="1874519"/>
            <a:ext cx="9326880" cy="2331720"/>
          </a:xfrm>
          <a:prstGeom prst="roundRect">
            <a:avLst>
              <a:gd name="adj" fmla="val 6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201168" bIns="146304" rtlCol="0" anchor="ctr"/>
          <a:lstStyle/>
          <a:p>
            <a:pPr algn="l"/>
            <a:r>
              <a:rPr sz="1500" b="0" i="0">
                <a:solidFill>
                  <a:srgbClr val="E8ECF7"/>
                </a:solidFill>
                <a:latin typeface="Courier New"/>
              </a:rPr>
              <a:t>ROLES (index in brackets):</a:t>
            </a:r>
          </a:p>
          <a:p>
            <a:pPr algn="l"/>
            <a:r>
              <a:rPr sz="1500" b="0" i="0">
                <a:solidFill>
                  <a:srgbClr val="7EA8FF"/>
                </a:solidFill>
                <a:latin typeface="Courier New"/>
              </a:rPr>
              <a:t>[0]</a:t>
            </a:r>
            <a:r>
              <a:rPr sz="1500" b="0" i="0">
                <a:solidFill>
                  <a:srgbClr val="E8ECF7"/>
                </a:solidFill>
                <a:latin typeface="Courier New"/>
              </a:rPr>
              <a:t> Backend Developer at Acme (2022–Present); tech: Python…</a:t>
            </a:r>
          </a:p>
          <a:p>
            <a:pPr algn="l"/>
            <a:r>
              <a:rPr sz="1500" b="0" i="0">
                <a:solidFill>
                  <a:srgbClr val="7EA8FF"/>
                </a:solidFill>
                <a:latin typeface="Courier New"/>
              </a:rPr>
              <a:t>[1]</a:t>
            </a:r>
            <a:r>
              <a:rPr sz="1500" b="0" i="0">
                <a:solidFill>
                  <a:srgbClr val="E8ECF7"/>
                </a:solidFill>
                <a:latin typeface="Courier New"/>
              </a:rPr>
              <a:t> QA Engineer at Initech (2019–2022); tech: SQL…</a:t>
            </a:r>
          </a:p>
          <a:p>
            <a:pPr algn="l"/>
            <a:endParaRPr sz="1500" b="0" i="0">
              <a:solidFill>
                <a:srgbClr val="E8ECF7"/>
              </a:solidFill>
              <a:latin typeface="Courier New"/>
            </a:endParaRPr>
          </a:p>
          <a:p>
            <a:pPr algn="l"/>
            <a:r>
              <a:rPr sz="1500" b="0" i="0">
                <a:solidFill>
                  <a:srgbClr val="8FA0C7"/>
                </a:solidFill>
                <a:latin typeface="Courier New"/>
              </a:rPr>
              <a:t>→ bullets must come back keyed by those indexes:</a:t>
            </a:r>
          </a:p>
          <a:p>
            <a:pPr algn="l"/>
            <a:r>
              <a:rPr sz="1500" b="0" i="0">
                <a:solidFill>
                  <a:srgbClr val="5ED598"/>
                </a:solidFill>
                <a:latin typeface="Courier New"/>
              </a:rPr>
              <a:t>  "experience_bullets": {"0": […], "1": […]}</a:t>
            </a:r>
          </a:p>
          <a:p>
            <a:pPr algn="l"/>
            <a:r>
              <a:rPr sz="1500" b="0" i="0">
                <a:solidFill>
                  <a:srgbClr val="8FA0C7"/>
                </a:solidFill>
                <a:latin typeface="Courier New"/>
              </a:rPr>
              <a:t>  a job that doesn't exist has no index to hang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434840"/>
            <a:ext cx="106070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1" i="0">
                <a:solidFill>
                  <a:srgbClr val="14804A"/>
                </a:solidFill>
                <a:latin typeface="Arial"/>
              </a:rPr>
              <a:t>✓  </a:t>
            </a:r>
            <a:r>
              <a:rPr sz="1900" b="0" i="0">
                <a:solidFill>
                  <a:srgbClr val="16203A"/>
                </a:solidFill>
                <a:latin typeface="Arial"/>
              </a:rPr>
              <a:t>Rules first: </a:t>
            </a:r>
            <a:r>
              <a:rPr sz="1900" b="1" i="0">
                <a:solidFill>
                  <a:srgbClr val="16203A"/>
                </a:solidFill>
                <a:latin typeface="Arial"/>
              </a:rPr>
              <a:t>“Use ONLY facts present in the profile. Never invent employers, titles, dates, degrees…”</a:t>
            </a:r>
          </a:p>
          <a:p>
            <a:pPr>
              <a:spcAft>
                <a:spcPts val="900"/>
              </a:spcAft>
            </a:pPr>
            <a:r>
              <a:rPr sz="1900" b="1" i="0">
                <a:solidFill>
                  <a:srgbClr val="14804A"/>
                </a:solidFill>
                <a:latin typeface="Arial"/>
              </a:rPr>
              <a:t>✓  </a:t>
            </a:r>
            <a:r>
              <a:rPr sz="1900" b="0" i="0">
                <a:solidFill>
                  <a:srgbClr val="16203A"/>
                </a:solidFill>
                <a:latin typeface="Arial"/>
              </a:rPr>
              <a:t>The output language is spelled out (“OUTPUT LANGUAGE: Hebrew”) — “match the posting” alone gets ignored</a:t>
            </a:r>
          </a:p>
          <a:p>
            <a:pPr>
              <a:spcAft>
                <a:spcPts val="900"/>
              </a:spcAft>
            </a:pPr>
            <a:r>
              <a:rPr sz="1900" b="1" i="0">
                <a:solidFill>
                  <a:srgbClr val="14804A"/>
                </a:solidFill>
                <a:latin typeface="Arial"/>
              </a:rPr>
              <a:t>✓  </a:t>
            </a:r>
            <a:r>
              <a:rPr sz="1900" b="0" i="0">
                <a:solidFill>
                  <a:srgbClr val="16203A"/>
                </a:solidFill>
                <a:latin typeface="Arial"/>
              </a:rPr>
              <a:t>Temperature ladder: Reviewer </a:t>
            </a:r>
            <a:r>
              <a:rPr sz="1900" b="1" i="0">
                <a:solidFill>
                  <a:srgbClr val="16203A"/>
                </a:solidFill>
                <a:latin typeface="Arial"/>
              </a:rPr>
              <a:t>0.1</a:t>
            </a:r>
            <a:r>
              <a:rPr sz="1900" b="0" i="0">
                <a:solidFill>
                  <a:srgbClr val="16203A"/>
                </a:solidFill>
                <a:latin typeface="Arial"/>
              </a:rPr>
              <a:t>  ·  Ranker </a:t>
            </a:r>
            <a:r>
              <a:rPr sz="1900" b="1" i="0">
                <a:solidFill>
                  <a:srgbClr val="16203A"/>
                </a:solidFill>
                <a:latin typeface="Arial"/>
              </a:rPr>
              <a:t>0.2</a:t>
            </a:r>
            <a:r>
              <a:rPr sz="1900" b="0" i="0">
                <a:solidFill>
                  <a:srgbClr val="16203A"/>
                </a:solidFill>
                <a:latin typeface="Arial"/>
              </a:rPr>
              <a:t>  ·  Tailor </a:t>
            </a:r>
            <a:r>
              <a:rPr sz="1900" b="1" i="0">
                <a:solidFill>
                  <a:srgbClr val="16203A"/>
                </a:solidFill>
                <a:latin typeface="Arial"/>
              </a:rPr>
              <a:t>0.35</a:t>
            </a:r>
            <a:r>
              <a:rPr sz="1900" b="0" i="0">
                <a:solidFill>
                  <a:srgbClr val="16203A"/>
                </a:solidFill>
                <a:latin typeface="Arial"/>
              </a:rPr>
              <a:t> — creativity only where it's safe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09 · MULTI-AGENT QUALITY GATE — 1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6203A"/>
                </a:solidFill>
                <a:latin typeface="Arial"/>
              </a:rPr>
              <a:t>Writer → Critic → Fix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468880"/>
            <a:ext cx="2416302" cy="155448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800" b="1" i="0">
                <a:solidFill>
                  <a:srgbClr val="16203A"/>
                </a:solidFill>
                <a:latin typeface="Arial"/>
              </a:rPr>
              <a:t>Tailor writes</a:t>
            </a:r>
          </a:p>
          <a:p>
            <a:pPr algn="ctr"/>
            <a:r>
              <a:rPr sz="1300" b="0" i="0">
                <a:solidFill>
                  <a:srgbClr val="5A6478"/>
                </a:solidFill>
                <a:latin typeface="Arial"/>
              </a:rPr>
              <a:t>draft resume + letter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147822" y="312724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486150" y="2468880"/>
            <a:ext cx="2416302" cy="1554480"/>
          </a:xfrm>
          <a:prstGeom prst="roundRect">
            <a:avLst>
              <a:gd name="adj" fmla="val 12000"/>
            </a:avLst>
          </a:prstGeom>
          <a:solidFill>
            <a:srgbClr val="E3F2EA"/>
          </a:solidFill>
          <a:ln w="28575">
            <a:solidFill>
              <a:srgbClr val="148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800" b="1" i="0">
                <a:solidFill>
                  <a:srgbClr val="16203A"/>
                </a:solidFill>
                <a:latin typeface="Arial"/>
              </a:rPr>
              <a:t>Reviewer checks every claim</a:t>
            </a:r>
          </a:p>
          <a:p>
            <a:pPr algn="ctr"/>
            <a:r>
              <a:rPr sz="1300" b="0" i="0">
                <a:solidFill>
                  <a:srgbClr val="5A6478"/>
                </a:solidFill>
                <a:latin typeface="Arial"/>
              </a:rPr>
              <a:t>your profile is the only source of truth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48172" y="312724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86500" y="2468880"/>
            <a:ext cx="2416302" cy="155448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800" b="1" i="0">
                <a:solidFill>
                  <a:srgbClr val="16203A"/>
                </a:solidFill>
                <a:latin typeface="Arial"/>
              </a:rPr>
              <a:t>Repairer fixes</a:t>
            </a:r>
          </a:p>
          <a:p>
            <a:pPr algn="ctr"/>
            <a:r>
              <a:rPr sz="1300" b="0" i="0">
                <a:solidFill>
                  <a:srgbClr val="5A6478"/>
                </a:solidFill>
                <a:latin typeface="Arial"/>
              </a:rPr>
              <a:t>only the flagged problems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48522" y="312724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086850" y="2468880"/>
            <a:ext cx="2416302" cy="1554480"/>
          </a:xfrm>
          <a:prstGeom prst="roundRect">
            <a:avLst>
              <a:gd name="adj" fmla="val 12000"/>
            </a:avLst>
          </a:prstGeom>
          <a:solidFill>
            <a:srgbClr val="16203A"/>
          </a:solidFill>
          <a:ln w="28575">
            <a:solidFill>
              <a:srgbClr val="162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It ships</a:t>
            </a:r>
          </a:p>
          <a:p>
            <a:pPr algn="ctr"/>
            <a:r>
              <a:rPr sz="1300" b="0" i="0">
                <a:solidFill>
                  <a:srgbClr val="B9C2D8"/>
                </a:solidFill>
                <a:latin typeface="Arial"/>
              </a:rPr>
              <a:t>clean documents + PDFs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09 · MULTI-AGENT QUALITY GATE — 2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 i="0">
                <a:solidFill>
                  <a:srgbClr val="16203A"/>
                </a:solidFill>
                <a:latin typeface="Arial"/>
              </a:rPr>
              <a:t>Catching </a:t>
            </a:r>
            <a:r>
              <a:rPr sz="3800" b="1" i="0">
                <a:solidFill>
                  <a:srgbClr val="3B5BDB"/>
                </a:solidFill>
                <a:latin typeface="Arial"/>
              </a:rPr>
              <a:t>AI lies</a:t>
            </a:r>
            <a:r>
              <a:rPr sz="3800" b="1" i="0">
                <a:solidFill>
                  <a:srgbClr val="16203A"/>
                </a:solidFill>
                <a:latin typeface="Arial"/>
              </a:rPr>
              <a:t> — a real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B3251E"/>
                </a:solidFill>
                <a:latin typeface="Arial"/>
              </a:rPr>
              <a:t>CAUGHT IN TESTING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16203A"/>
                </a:solidFill>
                <a:latin typeface="Arial"/>
              </a:rPr>
              <a:t>The draft claimed a </a:t>
            </a:r>
            <a:r>
              <a:rPr sz="2400" b="1" i="0">
                <a:solidFill>
                  <a:srgbClr val="16203A"/>
                </a:solidFill>
                <a:latin typeface="Arial"/>
              </a:rPr>
              <a:t>PhD in Physics</a:t>
            </a:r>
            <a:r>
              <a:rPr sz="2400" b="0" i="0">
                <a:solidFill>
                  <a:srgbClr val="16203A"/>
                </a:solidFill>
                <a:latin typeface="Arial"/>
              </a:rPr>
              <a:t>, </a:t>
            </a:r>
            <a:r>
              <a:rPr sz="2400" b="1" i="0">
                <a:solidFill>
                  <a:srgbClr val="16203A"/>
                </a:solidFill>
                <a:latin typeface="Arial"/>
              </a:rPr>
              <a:t>“10 years of experience”</a:t>
            </a:r>
            <a:r>
              <a:rPr sz="2400" b="0" i="0">
                <a:solidFill>
                  <a:srgbClr val="16203A"/>
                </a:solidFill>
                <a:latin typeface="Arial"/>
              </a:rPr>
              <a:t>, a </a:t>
            </a:r>
            <a:r>
              <a:rPr sz="2400" b="1" i="0">
                <a:solidFill>
                  <a:srgbClr val="16203A"/>
                </a:solidFill>
                <a:latin typeface="Arial"/>
              </a:rPr>
              <a:t>Nobel Prize</a:t>
            </a:r>
            <a:r>
              <a:rPr sz="2400" b="0" i="0">
                <a:solidFill>
                  <a:srgbClr val="16203A"/>
                </a:solidFill>
                <a:latin typeface="Arial"/>
              </a:rPr>
              <a:t> — and addressed the </a:t>
            </a:r>
            <a:r>
              <a:rPr sz="2400" b="1" i="0">
                <a:solidFill>
                  <a:srgbClr val="16203A"/>
                </a:solidFill>
                <a:latin typeface="Arial"/>
              </a:rPr>
              <a:t>wrong company</a:t>
            </a:r>
          </a:p>
          <a:p>
            <a:pPr>
              <a:spcBef>
                <a:spcPts val="2600"/>
              </a:spcBef>
            </a:pPr>
            <a:r>
              <a:rPr sz="2000" b="1" i="0">
                <a:solidFill>
                  <a:srgbClr val="14804A"/>
                </a:solidFill>
                <a:latin typeface="Arial"/>
              </a:rPr>
              <a:t>AFTER REPAIR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16203A"/>
                </a:solidFill>
                <a:latin typeface="Arial"/>
              </a:rPr>
              <a:t>5 of 5 issues removed — the re-review came back clean ✓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 dirty="0">
                <a:solidFill>
                  <a:srgbClr val="3B5BDB"/>
                </a:solidFill>
                <a:latin typeface="Courier New"/>
              </a:rPr>
              <a:t>09 · MULTI-AGENT QUALITY GATE — 3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6203A"/>
                </a:solidFill>
                <a:latin typeface="Arial"/>
              </a:rPr>
              <a:t>One click, </a:t>
            </a:r>
            <a:r>
              <a:rPr sz="3400" b="1" i="0">
                <a:solidFill>
                  <a:srgbClr val="3B5BDB"/>
                </a:solidFill>
                <a:latin typeface="Arial"/>
              </a:rPr>
              <a:t>end to 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57400"/>
            <a:ext cx="2416302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700" b="1" i="0">
                <a:solidFill>
                  <a:srgbClr val="16203A"/>
                </a:solidFill>
                <a:latin typeface="Arial"/>
              </a:rPr>
              <a:t>POST /api/apply</a:t>
            </a:r>
          </a:p>
          <a:p>
            <a:pPr algn="ctr"/>
            <a:r>
              <a:rPr sz="1200" b="0" i="0">
                <a:solidFill>
                  <a:srgbClr val="5A6478"/>
                </a:solidFill>
                <a:latin typeface="Arial"/>
              </a:rPr>
              <a:t>the button's only job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147822" y="253288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486150" y="2057400"/>
            <a:ext cx="2416302" cy="118872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700" b="1" i="0">
                <a:solidFill>
                  <a:srgbClr val="16203A"/>
                </a:solidFill>
                <a:latin typeface="Arial"/>
              </a:rPr>
              <a:t>Tailor</a:t>
            </a:r>
          </a:p>
          <a:p>
            <a:pPr algn="ctr"/>
            <a:r>
              <a:rPr sz="1200" b="0" i="0">
                <a:solidFill>
                  <a:srgbClr val="5A6478"/>
                </a:solidFill>
                <a:latin typeface="Arial"/>
              </a:rPr>
              <a:t>AI · temp 0.35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48172" y="253288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86500" y="2057400"/>
            <a:ext cx="2416302" cy="1188720"/>
          </a:xfrm>
          <a:prstGeom prst="roundRect">
            <a:avLst>
              <a:gd name="adj" fmla="val 12000"/>
            </a:avLst>
          </a:prstGeom>
          <a:solidFill>
            <a:srgbClr val="E3F2EA"/>
          </a:solidFill>
          <a:ln w="28575">
            <a:solidFill>
              <a:srgbClr val="148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700" b="1" i="0">
                <a:solidFill>
                  <a:srgbClr val="16203A"/>
                </a:solidFill>
                <a:latin typeface="Arial"/>
              </a:rPr>
              <a:t>Review</a:t>
            </a:r>
          </a:p>
          <a:p>
            <a:pPr algn="ctr"/>
            <a:r>
              <a:rPr sz="1200" b="0" i="0">
                <a:solidFill>
                  <a:srgbClr val="5A6478"/>
                </a:solidFill>
                <a:latin typeface="Arial"/>
              </a:rPr>
              <a:t>AI · temp 0.1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48522" y="253288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086850" y="2057400"/>
            <a:ext cx="2416302" cy="1188720"/>
          </a:xfrm>
          <a:prstGeom prst="roundRect">
            <a:avLst>
              <a:gd name="adj" fmla="val 12000"/>
            </a:avLst>
          </a:prstGeom>
          <a:solidFill>
            <a:srgbClr val="E3F2EA"/>
          </a:solidFill>
          <a:ln w="28575">
            <a:solidFill>
              <a:srgbClr val="148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700" b="1" i="0">
                <a:solidFill>
                  <a:srgbClr val="16203A"/>
                </a:solidFill>
                <a:latin typeface="Arial"/>
              </a:rPr>
              <a:t>Repair</a:t>
            </a:r>
          </a:p>
          <a:p>
            <a:pPr algn="ctr"/>
            <a:r>
              <a:rPr sz="1200" b="0" i="0">
                <a:solidFill>
                  <a:srgbClr val="5A6478"/>
                </a:solidFill>
                <a:latin typeface="Arial"/>
              </a:rPr>
              <a:t>AI · only if flagged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976975" y="3364992"/>
            <a:ext cx="237744" cy="274320"/>
          </a:xfrm>
          <a:prstGeom prst="down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3749039"/>
            <a:ext cx="2416302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600" b="1" i="0">
                <a:solidFill>
                  <a:srgbClr val="16203A"/>
                </a:solidFill>
                <a:latin typeface="Arial"/>
              </a:rPr>
              <a:t>Render documents</a:t>
            </a:r>
          </a:p>
          <a:p>
            <a:pPr algn="ctr"/>
            <a:r>
              <a:rPr sz="1200" b="0" i="0">
                <a:solidFill>
                  <a:srgbClr val="5A6478"/>
                </a:solidFill>
                <a:latin typeface="Arial"/>
              </a:rPr>
              <a:t>code · templates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147822" y="4224527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486150" y="3749039"/>
            <a:ext cx="2416302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600" b="1" i="0">
                <a:solidFill>
                  <a:srgbClr val="16203A"/>
                </a:solidFill>
                <a:latin typeface="Arial"/>
              </a:rPr>
              <a:t>Your Chrome, headless</a:t>
            </a:r>
          </a:p>
          <a:p>
            <a:pPr algn="ctr"/>
            <a:r>
              <a:rPr sz="1200" b="0" i="0">
                <a:solidFill>
                  <a:srgbClr val="5A6478"/>
                </a:solidFill>
                <a:latin typeface="Arial"/>
              </a:rPr>
              <a:t>HTML → PDF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48172" y="4224527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86500" y="3749039"/>
            <a:ext cx="2416302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600" b="1" i="0">
                <a:solidFill>
                  <a:srgbClr val="16203A"/>
                </a:solidFill>
                <a:latin typeface="Arial"/>
              </a:rPr>
              <a:t>answers.json + tracker</a:t>
            </a:r>
          </a:p>
          <a:p>
            <a:pPr algn="ctr"/>
            <a:r>
              <a:rPr sz="1200" b="0" i="0">
                <a:solidFill>
                  <a:srgbClr val="5A6478"/>
                </a:solidFill>
                <a:latin typeface="Arial"/>
              </a:rPr>
              <a:t>code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748522" y="4224527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086850" y="3749039"/>
            <a:ext cx="2416302" cy="1188720"/>
          </a:xfrm>
          <a:prstGeom prst="roundRect">
            <a:avLst>
              <a:gd name="adj" fmla="val 12000"/>
            </a:avLst>
          </a:prstGeom>
          <a:solidFill>
            <a:srgbClr val="16203A"/>
          </a:solidFill>
          <a:ln w="28575">
            <a:solidFill>
              <a:srgbClr val="162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Packet in the UI</a:t>
            </a:r>
          </a:p>
          <a:p>
            <a:pPr algn="ctr"/>
            <a:r>
              <a:rPr sz="1200" b="0" i="0">
                <a:solidFill>
                  <a:srgbClr val="B9C2D8"/>
                </a:solidFill>
                <a:latin typeface="Arial"/>
              </a:rPr>
              <a:t>copy buttons &amp; files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257800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 b="1" i="0">
                <a:solidFill>
                  <a:srgbClr val="14804A"/>
                </a:solidFill>
                <a:latin typeface="Arial"/>
              </a:rPr>
              <a:t>✓  </a:t>
            </a:r>
            <a:r>
              <a:rPr sz="1900" b="0" i="0">
                <a:solidFill>
                  <a:srgbClr val="16203A"/>
                </a:solidFill>
                <a:latin typeface="Arial"/>
              </a:rPr>
              <a:t>Each phase reports progress — that's the live ticker you saw in the demo</a:t>
            </a:r>
          </a:p>
          <a:p>
            <a:pPr>
              <a:spcAft>
                <a:spcPts val="700"/>
              </a:spcAft>
            </a:pPr>
            <a:r>
              <a:rPr sz="1900" b="1" i="0">
                <a:solidFill>
                  <a:srgbClr val="14804A"/>
                </a:solidFill>
                <a:latin typeface="Arial"/>
              </a:rPr>
              <a:t>✓  </a:t>
            </a:r>
            <a:r>
              <a:rPr sz="1900" b="0" i="0">
                <a:solidFill>
                  <a:srgbClr val="16203A"/>
                </a:solidFill>
                <a:latin typeface="Arial"/>
              </a:rPr>
              <a:t>Every AI step degrades gracefully: </a:t>
            </a:r>
            <a:r>
              <a:rPr sz="1900" b="1" i="0">
                <a:solidFill>
                  <a:srgbClr val="16203A"/>
                </a:solidFill>
                <a:latin typeface="Arial"/>
              </a:rPr>
              <a:t>tailor fails → untailored resume · review fails → draft kept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10 ·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6203A"/>
                </a:solidFill>
                <a:latin typeface="Arial"/>
              </a:rPr>
              <a:t>Autonomous, </a:t>
            </a:r>
            <a:r>
              <a:rPr sz="4200" b="1" i="0">
                <a:solidFill>
                  <a:srgbClr val="3B5BDB"/>
                </a:solidFill>
                <a:latin typeface="Arial"/>
              </a:rPr>
              <a:t>not reckless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500" b="1" i="0">
                <a:solidFill>
                  <a:srgbClr val="14804A"/>
                </a:solidFill>
                <a:latin typeface="Arial"/>
              </a:rPr>
              <a:t>✓  </a:t>
            </a:r>
            <a:r>
              <a:rPr sz="2500" b="0" i="0">
                <a:solidFill>
                  <a:srgbClr val="16203A"/>
                </a:solidFill>
                <a:latin typeface="Arial"/>
              </a:rPr>
              <a:t>Documents may only use facts </a:t>
            </a:r>
            <a:r>
              <a:rPr sz="2500" b="1" i="0">
                <a:solidFill>
                  <a:srgbClr val="16203A"/>
                </a:solidFill>
                <a:latin typeface="Arial"/>
              </a:rPr>
              <a:t>from your profile</a:t>
            </a:r>
          </a:p>
          <a:p>
            <a:pPr>
              <a:spcAft>
                <a:spcPts val="1400"/>
              </a:spcAft>
            </a:pPr>
            <a:r>
              <a:rPr sz="2500" b="1" i="0">
                <a:solidFill>
                  <a:srgbClr val="14804A"/>
                </a:solidFill>
                <a:latin typeface="Arial"/>
              </a:rPr>
              <a:t>✓  </a:t>
            </a:r>
            <a:r>
              <a:rPr sz="2500" b="0" i="0">
                <a:solidFill>
                  <a:srgbClr val="16203A"/>
                </a:solidFill>
                <a:latin typeface="Arial"/>
              </a:rPr>
              <a:t>Every packet is fact-checked by a second AI pass</a:t>
            </a:r>
          </a:p>
          <a:p>
            <a:pPr>
              <a:spcAft>
                <a:spcPts val="1400"/>
              </a:spcAft>
            </a:pPr>
            <a:r>
              <a:rPr sz="2500" b="1" i="0">
                <a:solidFill>
                  <a:srgbClr val="14804A"/>
                </a:solidFill>
                <a:latin typeface="Arial"/>
              </a:rPr>
              <a:t>✓  </a:t>
            </a:r>
            <a:r>
              <a:rPr sz="2500" b="0" i="0">
                <a:solidFill>
                  <a:srgbClr val="16203A"/>
                </a:solidFill>
                <a:latin typeface="Arial"/>
              </a:rPr>
              <a:t>AI-suggested companies are </a:t>
            </a:r>
            <a:r>
              <a:rPr sz="2500" b="1" i="0">
                <a:solidFill>
                  <a:srgbClr val="16203A"/>
                </a:solidFill>
                <a:latin typeface="Arial"/>
              </a:rPr>
              <a:t>verified against real APIs</a:t>
            </a:r>
            <a:r>
              <a:rPr sz="2500" b="0" i="0">
                <a:solidFill>
                  <a:srgbClr val="16203A"/>
                </a:solidFill>
                <a:latin typeface="Arial"/>
              </a:rPr>
              <a:t> before use</a:t>
            </a:r>
          </a:p>
          <a:p>
            <a:pPr>
              <a:spcAft>
                <a:spcPts val="1400"/>
              </a:spcAft>
            </a:pPr>
            <a:r>
              <a:rPr sz="2500" b="1" i="0">
                <a:solidFill>
                  <a:srgbClr val="B3251E"/>
                </a:solidFill>
                <a:latin typeface="Arial"/>
              </a:rPr>
              <a:t>✕  </a:t>
            </a:r>
            <a:r>
              <a:rPr sz="2500" b="0" i="0">
                <a:solidFill>
                  <a:srgbClr val="16203A"/>
                </a:solidFill>
                <a:latin typeface="Arial"/>
              </a:rPr>
              <a:t>It never clicks Submit — </a:t>
            </a:r>
            <a:r>
              <a:rPr sz="2500" b="1" i="0">
                <a:solidFill>
                  <a:srgbClr val="16203A"/>
                </a:solidFill>
                <a:latin typeface="Arial"/>
              </a:rPr>
              <a:t>ever</a:t>
            </a:r>
          </a:p>
          <a:p>
            <a:pPr>
              <a:spcAft>
                <a:spcPts val="1400"/>
              </a:spcAft>
            </a:pPr>
            <a:r>
              <a:rPr sz="2500" b="1" i="0">
                <a:solidFill>
                  <a:srgbClr val="14804A"/>
                </a:solidFill>
                <a:latin typeface="Arial"/>
              </a:rPr>
              <a:t>✓  </a:t>
            </a:r>
            <a:r>
              <a:rPr sz="2500" b="0" i="0">
                <a:solidFill>
                  <a:srgbClr val="16203A"/>
                </a:solidFill>
                <a:latin typeface="Arial"/>
              </a:rPr>
              <a:t>Your data and API key stay on </a:t>
            </a:r>
            <a:r>
              <a:rPr sz="2500" b="1" i="0">
                <a:solidFill>
                  <a:srgbClr val="16203A"/>
                </a:solidFill>
                <a:latin typeface="Arial"/>
              </a:rPr>
              <a:t>your</a:t>
            </a:r>
            <a:r>
              <a:rPr sz="2500" b="0" i="0">
                <a:solidFill>
                  <a:srgbClr val="16203A"/>
                </a:solidFill>
                <a:latin typeface="Arial"/>
              </a:rPr>
              <a:t> machine or browser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11 · THE FORM-FILLER — 1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6203A"/>
                </a:solidFill>
                <a:latin typeface="Arial"/>
              </a:rPr>
              <a:t>It fills the </a:t>
            </a:r>
            <a:r>
              <a:rPr sz="3400" b="1" i="0">
                <a:solidFill>
                  <a:srgbClr val="3B5BDB"/>
                </a:solidFill>
                <a:latin typeface="Arial"/>
              </a:rPr>
              <a:t>real</a:t>
            </a:r>
            <a:r>
              <a:rPr sz="3400" b="1" i="0">
                <a:solidFill>
                  <a:srgbClr val="16203A"/>
                </a:solidFill>
                <a:latin typeface="Arial"/>
              </a:rPr>
              <a:t> application 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468880"/>
            <a:ext cx="2416302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700" b="1" i="0">
                <a:solidFill>
                  <a:srgbClr val="16203A"/>
                </a:solidFill>
                <a:latin typeface="Arial"/>
              </a:rPr>
              <a:t>Detect the form system</a:t>
            </a:r>
          </a:p>
          <a:p>
            <a:pPr algn="ctr"/>
            <a:r>
              <a:rPr sz="1300" b="0" i="0">
                <a:solidFill>
                  <a:srgbClr val="5A6478"/>
                </a:solidFill>
                <a:latin typeface="Arial"/>
              </a:rPr>
              <a:t>Greenhouse / Lever — aggregator links traced to the real form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147822" y="317296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486150" y="2468880"/>
            <a:ext cx="2416302" cy="164592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700" b="1" i="0">
                <a:solidFill>
                  <a:srgbClr val="16203A"/>
                </a:solidFill>
                <a:latin typeface="Arial"/>
              </a:rPr>
              <a:t>Open your Chrome</a:t>
            </a:r>
          </a:p>
          <a:p>
            <a:pPr algn="ctr"/>
            <a:r>
              <a:rPr sz="1300" b="0" i="0">
                <a:solidFill>
                  <a:srgbClr val="5A6478"/>
                </a:solidFill>
                <a:latin typeface="Arial"/>
              </a:rPr>
              <a:t>a script lists every field on the page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48172" y="317296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86500" y="2468880"/>
            <a:ext cx="2416302" cy="164592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700" b="1" i="0">
                <a:solidFill>
                  <a:srgbClr val="16203A"/>
                </a:solidFill>
                <a:latin typeface="Arial"/>
              </a:rPr>
              <a:t>Fill + upload resume</a:t>
            </a:r>
          </a:p>
          <a:p>
            <a:pPr algn="ctr"/>
            <a:r>
              <a:rPr sz="1300" b="0" i="0">
                <a:solidFill>
                  <a:srgbClr val="5A6478"/>
                </a:solidFill>
                <a:latin typeface="Arial"/>
              </a:rPr>
              <a:t>code for standard fields, AI for open questions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48522" y="317296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086850" y="2468880"/>
            <a:ext cx="2416302" cy="1645920"/>
          </a:xfrm>
          <a:prstGeom prst="roundRect">
            <a:avLst>
              <a:gd name="adj" fmla="val 12000"/>
            </a:avLst>
          </a:prstGeom>
          <a:solidFill>
            <a:srgbClr val="16203A"/>
          </a:solidFill>
          <a:ln w="28575">
            <a:solidFill>
              <a:srgbClr val="162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STOP</a:t>
            </a:r>
          </a:p>
          <a:p>
            <a:pPr algn="ctr"/>
            <a:r>
              <a:rPr sz="1300" b="0" i="0">
                <a:solidFill>
                  <a:srgbClr val="B9C2D8"/>
                </a:solidFill>
                <a:latin typeface="Arial"/>
              </a:rPr>
              <a:t>gaps highlighted — you review and submit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11 · THE FORM-FILLER — 2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6203A"/>
                </a:solidFill>
                <a:latin typeface="Arial"/>
              </a:rPr>
              <a:t>A real form, </a:t>
            </a:r>
            <a:r>
              <a:rPr sz="3400" b="1" i="0">
                <a:solidFill>
                  <a:srgbClr val="3B5BDB"/>
                </a:solidFill>
                <a:latin typeface="Arial"/>
              </a:rPr>
              <a:t>really filled</a:t>
            </a:r>
          </a:p>
        </p:txBody>
      </p:sp>
      <p:pic>
        <p:nvPicPr>
          <p:cNvPr id="4" name="Picture 3" descr="pres-autofi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1477" y="1920240"/>
            <a:ext cx="6668740" cy="4480560"/>
          </a:xfrm>
          <a:prstGeom prst="rect">
            <a:avLst/>
          </a:prstGeom>
          <a:ln w="19050">
            <a:solidFill>
              <a:srgbClr val="D8DDE8"/>
            </a:solidFill>
          </a:ln>
          <a:effectLst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11 · THE FORM-FILLER — 3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16203A"/>
                </a:solidFill>
                <a:latin typeface="Arial"/>
              </a:rPr>
              <a:t>Inside the </a:t>
            </a:r>
            <a:r>
              <a:rPr sz="3600" b="1" i="0">
                <a:solidFill>
                  <a:srgbClr val="3B5BDB"/>
                </a:solidFill>
                <a:latin typeface="Arial"/>
              </a:rPr>
              <a:t>form-filler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106070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2000" b="1" i="0">
                <a:solidFill>
                  <a:srgbClr val="3B5BDB"/>
                </a:solidFill>
                <a:latin typeface="Arial"/>
              </a:rPr>
              <a:t>•  </a:t>
            </a:r>
            <a:r>
              <a:rPr sz="2000" b="0" i="0">
                <a:solidFill>
                  <a:srgbClr val="16203A"/>
                </a:solidFill>
                <a:latin typeface="Arial"/>
              </a:rPr>
              <a:t>Playwright drives a </a:t>
            </a:r>
            <a:r>
              <a:rPr sz="2000" b="1" i="0">
                <a:solidFill>
                  <a:srgbClr val="16203A"/>
                </a:solidFill>
                <a:latin typeface="Arial"/>
              </a:rPr>
              <a:t>persistent real-Chrome profile</a:t>
            </a:r>
            <a:r>
              <a:rPr sz="2000" b="0" i="0">
                <a:solidFill>
                  <a:srgbClr val="16203A"/>
                </a:solidFill>
                <a:latin typeface="Arial"/>
              </a:rPr>
              <a:t> — logins and cookies survive between runs</a:t>
            </a:r>
          </a:p>
          <a:p>
            <a:pPr>
              <a:spcAft>
                <a:spcPts val="1100"/>
              </a:spcAft>
            </a:pPr>
            <a:r>
              <a:rPr sz="2000" b="1" i="0">
                <a:solidFill>
                  <a:srgbClr val="3B5BDB"/>
                </a:solidFill>
                <a:latin typeface="Arial"/>
              </a:rPr>
              <a:t>•  </a:t>
            </a:r>
            <a:r>
              <a:rPr sz="2000" b="0" i="0">
                <a:solidFill>
                  <a:srgbClr val="16203A"/>
                </a:solidFill>
                <a:latin typeface="Arial"/>
              </a:rPr>
              <a:t>All browser work funnels through </a:t>
            </a:r>
            <a:r>
              <a:rPr sz="2000" b="1" i="0">
                <a:solidFill>
                  <a:srgbClr val="16203A"/>
                </a:solidFill>
                <a:latin typeface="Arial"/>
              </a:rPr>
              <a:t>one worker thread + a queue</a:t>
            </a:r>
            <a:r>
              <a:rPr sz="2000" b="0" i="0">
                <a:solidFill>
                  <a:srgbClr val="16203A"/>
                </a:solidFill>
                <a:latin typeface="Arial"/>
              </a:rPr>
              <a:t> (Playwright is thread-bound)</a:t>
            </a:r>
          </a:p>
          <a:p>
            <a:pPr>
              <a:spcAft>
                <a:spcPts val="1100"/>
              </a:spcAft>
            </a:pPr>
            <a:r>
              <a:rPr sz="2000" b="1" i="0">
                <a:solidFill>
                  <a:srgbClr val="3B5BDB"/>
                </a:solidFill>
                <a:latin typeface="Arial"/>
              </a:rPr>
              <a:t>•  </a:t>
            </a:r>
            <a:r>
              <a:rPr sz="2000" b="0" i="0">
                <a:solidFill>
                  <a:srgbClr val="16203A"/>
                </a:solidFill>
                <a:latin typeface="Arial"/>
              </a:rPr>
              <a:t>Aggregator links are resolved by downloading the page and </a:t>
            </a:r>
            <a:r>
              <a:rPr sz="2000" b="1" i="0">
                <a:solidFill>
                  <a:srgbClr val="16203A"/>
                </a:solidFill>
                <a:latin typeface="Arial"/>
              </a:rPr>
              <a:t>regex-finding the real Greenhouse / Lever URL</a:t>
            </a:r>
          </a:p>
          <a:p>
            <a:pPr>
              <a:spcAft>
                <a:spcPts val="1100"/>
              </a:spcAft>
            </a:pPr>
            <a:r>
              <a:rPr sz="2000" b="1" i="0">
                <a:solidFill>
                  <a:srgbClr val="3B5BDB"/>
                </a:solidFill>
                <a:latin typeface="Arial"/>
              </a:rPr>
              <a:t>•  </a:t>
            </a:r>
            <a:r>
              <a:rPr sz="2000" b="0" i="0">
                <a:solidFill>
                  <a:srgbClr val="16203A"/>
                </a:solidFill>
                <a:latin typeface="Arial"/>
              </a:rPr>
              <a:t>A JS snippet tags every field and reports its label, type, options, and required flag</a:t>
            </a:r>
          </a:p>
          <a:p>
            <a:pPr>
              <a:spcAft>
                <a:spcPts val="1100"/>
              </a:spcAft>
            </a:pPr>
            <a:r>
              <a:rPr sz="2000" b="1" i="0">
                <a:solidFill>
                  <a:srgbClr val="3B5BDB"/>
                </a:solidFill>
                <a:latin typeface="Arial"/>
              </a:rPr>
              <a:t>•  </a:t>
            </a:r>
            <a:r>
              <a:rPr sz="2000" b="0" i="0">
                <a:solidFill>
                  <a:srgbClr val="16203A"/>
                </a:solidFill>
                <a:latin typeface="Arial"/>
              </a:rPr>
              <a:t>Answers cheapest-first: profile fields → rule-based choices → AI, </a:t>
            </a:r>
            <a:r>
              <a:rPr sz="2000" b="1" i="0">
                <a:solidFill>
                  <a:srgbClr val="16203A"/>
                </a:solidFill>
                <a:latin typeface="Arial"/>
              </a:rPr>
              <a:t>budgeted at 8 AI calls per form</a:t>
            </a:r>
          </a:p>
          <a:p>
            <a:pPr>
              <a:spcAft>
                <a:spcPts val="1100"/>
              </a:spcAft>
            </a:pPr>
            <a:r>
              <a:rPr sz="2000" b="1" i="0">
                <a:solidFill>
                  <a:srgbClr val="3B5BDB"/>
                </a:solidFill>
                <a:latin typeface="Arial"/>
              </a:rPr>
              <a:t>•  </a:t>
            </a:r>
            <a:r>
              <a:rPr sz="2000" b="0" i="0">
                <a:solidFill>
                  <a:srgbClr val="16203A"/>
                </a:solidFill>
                <a:latin typeface="Arial"/>
              </a:rPr>
              <a:t>One broken field is skipped, never fatal — and </a:t>
            </a:r>
            <a:r>
              <a:rPr sz="2000" b="1" i="0">
                <a:solidFill>
                  <a:srgbClr val="16203A"/>
                </a:solidFill>
                <a:latin typeface="Arial"/>
              </a:rPr>
              <a:t>no code path exists that clicks Submit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12 · WHERE THE JOBS COME FROM — 1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6203A"/>
                </a:solidFill>
                <a:latin typeface="Arial"/>
              </a:rPr>
              <a:t>9 public boards, </a:t>
            </a:r>
            <a:r>
              <a:rPr sz="3400" b="1" i="0">
                <a:solidFill>
                  <a:srgbClr val="3B5BDB"/>
                </a:solidFill>
                <a:latin typeface="Arial"/>
              </a:rPr>
              <a:t>searched at once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194560"/>
            <a:ext cx="10817352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2000" b="1" i="0">
                <a:solidFill>
                  <a:srgbClr val="16203A"/>
                </a:solidFill>
                <a:latin typeface="Arial"/>
              </a:rPr>
              <a:t>Always on — no keys, no accounts</a:t>
            </a:r>
          </a:p>
          <a:p>
            <a:pPr algn="ctr"/>
            <a:r>
              <a:rPr sz="1600" b="0" i="0">
                <a:solidFill>
                  <a:srgbClr val="5A6478"/>
                </a:solidFill>
                <a:latin typeface="Arial"/>
              </a:rPr>
              <a:t>Remotive · RemoteOK · Arbeitnow · Jobicy · Himalayas · WeWorkRemotely · Hacker News “Who is hiring” · The Muse · Working Nomads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4206240"/>
            <a:ext cx="10817352" cy="146304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2000" b="1" i="0">
                <a:solidFill>
                  <a:srgbClr val="16203A"/>
                </a:solidFill>
                <a:latin typeface="Arial"/>
              </a:rPr>
              <a:t>Optional aggregators (free keys in Settings)</a:t>
            </a:r>
          </a:p>
          <a:p>
            <a:pPr algn="ctr"/>
            <a:r>
              <a:rPr sz="1600" b="0" i="0">
                <a:solidFill>
                  <a:srgbClr val="5A6478"/>
                </a:solidFill>
                <a:latin typeface="Arial"/>
              </a:rPr>
              <a:t>Jooble — ~69 countries incl. Israel · Adzuna — 20 countries of local on-site jobs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12 · WHERE THE JOBS COME FROM — 2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6203A"/>
                </a:solidFill>
                <a:latin typeface="Arial"/>
              </a:rPr>
              <a:t>…plus your country's </a:t>
            </a:r>
            <a:r>
              <a:rPr sz="3400" b="1" i="0">
                <a:solidFill>
                  <a:srgbClr val="3B5BDB"/>
                </a:solidFill>
                <a:latin typeface="Arial"/>
              </a:rPr>
              <a:t>actual companies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194560"/>
            <a:ext cx="10817352" cy="173736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2000" b="1" i="0">
                <a:solidFill>
                  <a:srgbClr val="16203A"/>
                </a:solidFill>
                <a:latin typeface="Arial"/>
              </a:rPr>
              <a:t>Automatic from your profile's country</a:t>
            </a:r>
          </a:p>
          <a:p>
            <a:pPr algn="ctr"/>
            <a:r>
              <a:rPr sz="1500" b="0" i="0">
                <a:solidFill>
                  <a:srgbClr val="5A6478"/>
                </a:solidFill>
                <a:latin typeface="Arial"/>
              </a:rPr>
              <a:t>109 verified employers shipped for 9 countries. Israel: NICE · Via · Cato · Gong · Similarweb · Taboola · JFrog · Fireblocks · AppsFlyer … (29 total)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4206240"/>
            <a:ext cx="10817352" cy="1463040"/>
          </a:xfrm>
          <a:prstGeom prst="roundRect">
            <a:avLst>
              <a:gd name="adj" fmla="val 12000"/>
            </a:avLst>
          </a:prstGeom>
          <a:solidFill>
            <a:srgbClr val="E3F2EA"/>
          </a:solidFill>
          <a:ln w="28575">
            <a:solidFill>
              <a:srgbClr val="148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2000" b="1" i="0">
                <a:solidFill>
                  <a:srgbClr val="16203A"/>
                </a:solidFill>
                <a:latin typeface="Arial"/>
              </a:rPr>
              <a:t>Unknown country? The AI scouts it</a:t>
            </a:r>
          </a:p>
          <a:p>
            <a:pPr algn="ctr"/>
            <a:r>
              <a:rPr sz="1500" b="0" i="0">
                <a:solidFill>
                  <a:srgbClr val="5A6478"/>
                </a:solidFill>
                <a:latin typeface="Arial"/>
              </a:rPr>
              <a:t>AI proposes employers → each verified against real career APIs → cached 30 days. Spain test: Cabify, Typeform, Wallapop — 83 real openings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12 · WHERE THE JOBS COME FROM — 3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16203A"/>
                </a:solidFill>
                <a:latin typeface="Arial"/>
              </a:rPr>
              <a:t>Inside the </a:t>
            </a:r>
            <a:r>
              <a:rPr sz="3600" b="1" i="0">
                <a:solidFill>
                  <a:srgbClr val="3B5BDB"/>
                </a:solidFill>
                <a:latin typeface="Arial"/>
              </a:rPr>
              <a:t>scraper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106070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 i="0">
                <a:solidFill>
                  <a:srgbClr val="3B5BDB"/>
                </a:solidFill>
                <a:latin typeface="Arial"/>
              </a:rPr>
              <a:t>•  </a:t>
            </a:r>
            <a:r>
              <a:rPr sz="2000" b="0" i="0">
                <a:solidFill>
                  <a:srgbClr val="16203A"/>
                </a:solidFill>
                <a:latin typeface="Arial"/>
              </a:rPr>
              <a:t>One small fetcher per source — 12 of them — each normalizing into the </a:t>
            </a:r>
            <a:r>
              <a:rPr sz="2000" b="1" i="0">
                <a:solidFill>
                  <a:srgbClr val="16203A"/>
                </a:solidFill>
                <a:latin typeface="Arial"/>
              </a:rPr>
              <a:t>same Job record</a:t>
            </a:r>
          </a:p>
          <a:p>
            <a:pPr>
              <a:spcAft>
                <a:spcPts val="1200"/>
              </a:spcAft>
            </a:pPr>
            <a:r>
              <a:rPr sz="2000" b="1" i="0">
                <a:solidFill>
                  <a:srgbClr val="3B5BDB"/>
                </a:solidFill>
                <a:latin typeface="Arial"/>
              </a:rPr>
              <a:t>•  </a:t>
            </a:r>
            <a:r>
              <a:rPr sz="2000" b="0" i="0">
                <a:solidFill>
                  <a:srgbClr val="16203A"/>
                </a:solidFill>
                <a:latin typeface="Arial"/>
              </a:rPr>
              <a:t>A dead API prints a warning and returns nothing — </a:t>
            </a:r>
            <a:r>
              <a:rPr sz="2000" b="1" i="0">
                <a:solidFill>
                  <a:srgbClr val="16203A"/>
                </a:solidFill>
                <a:latin typeface="Arial"/>
              </a:rPr>
              <a:t>the search itself never fails</a:t>
            </a:r>
          </a:p>
          <a:p>
            <a:pPr>
              <a:spcAft>
                <a:spcPts val="1200"/>
              </a:spcAft>
            </a:pPr>
            <a:r>
              <a:rPr sz="2000" b="1" i="0">
                <a:solidFill>
                  <a:srgbClr val="3B5BDB"/>
                </a:solidFill>
                <a:latin typeface="Arial"/>
              </a:rPr>
              <a:t>•  </a:t>
            </a:r>
            <a:r>
              <a:rPr sz="2000" b="0" i="0">
                <a:solidFill>
                  <a:srgbClr val="16203A"/>
                </a:solidFill>
                <a:latin typeface="Arial"/>
              </a:rPr>
              <a:t>Company career boards fan out on a </a:t>
            </a:r>
            <a:r>
              <a:rPr sz="2000" b="1" i="0">
                <a:solidFill>
                  <a:srgbClr val="16203A"/>
                </a:solidFill>
                <a:latin typeface="Arial"/>
              </a:rPr>
              <a:t>10-thread pool</a:t>
            </a:r>
            <a:r>
              <a:rPr sz="2000" b="0" i="0">
                <a:solidFill>
                  <a:srgbClr val="16203A"/>
                </a:solidFill>
                <a:latin typeface="Arial"/>
              </a:rPr>
              <a:t> — up to 30 boards per search</a:t>
            </a:r>
          </a:p>
          <a:p>
            <a:pPr>
              <a:spcAft>
                <a:spcPts val="1200"/>
              </a:spcAft>
            </a:pPr>
            <a:r>
              <a:rPr sz="2000" b="1" i="0">
                <a:solidFill>
                  <a:srgbClr val="3B5BDB"/>
                </a:solidFill>
                <a:latin typeface="Arial"/>
              </a:rPr>
              <a:t>•  </a:t>
            </a:r>
            <a:r>
              <a:rPr sz="2000" b="0" i="0">
                <a:solidFill>
                  <a:srgbClr val="16203A"/>
                </a:solidFill>
                <a:latin typeface="Arial"/>
              </a:rPr>
              <a:t>Boards' own search is unreliable, so relevance is scored client-side: </a:t>
            </a:r>
            <a:r>
              <a:rPr sz="2000" b="1" i="0">
                <a:solidFill>
                  <a:srgbClr val="16203A"/>
                </a:solidFill>
                <a:latin typeface="Arial"/>
              </a:rPr>
              <a:t>title hit &gt; tag hit &gt; description hit</a:t>
            </a:r>
          </a:p>
          <a:p>
            <a:pPr>
              <a:spcAft>
                <a:spcPts val="1200"/>
              </a:spcAft>
            </a:pPr>
            <a:r>
              <a:rPr sz="2000" b="1" i="0">
                <a:solidFill>
                  <a:srgbClr val="3B5BDB"/>
                </a:solidFill>
                <a:latin typeface="Arial"/>
              </a:rPr>
              <a:t>•  </a:t>
            </a:r>
            <a:r>
              <a:rPr sz="2000" b="0" i="0">
                <a:solidFill>
                  <a:srgbClr val="16203A"/>
                </a:solidFill>
                <a:latin typeface="Arial"/>
              </a:rPr>
              <a:t>Dedupe by URL and title+company; company jobs capped to half the list, </a:t>
            </a:r>
            <a:r>
              <a:rPr sz="2000" b="1" i="0">
                <a:solidFill>
                  <a:srgbClr val="16203A"/>
                </a:solidFill>
                <a:latin typeface="Arial"/>
              </a:rPr>
              <a:t>round-robin per employer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9893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A6478"/>
                </a:solidFill>
                <a:latin typeface="Arial"/>
              </a:rPr>
              <a:t>The fetchers are the easy part — </a:t>
            </a:r>
            <a:r>
              <a:rPr sz="1600" b="1" i="0">
                <a:solidFill>
                  <a:srgbClr val="5A6478"/>
                </a:solidFill>
                <a:latin typeface="Arial"/>
              </a:rPr>
              <a:t>the aggregation layer is where quality happens</a:t>
            </a:r>
            <a:r>
              <a:rPr sz="1600" b="0" i="0">
                <a:solidFill>
                  <a:srgbClr val="5A6478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13 · BILINGUAL BY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6203A"/>
                </a:solidFill>
                <a:latin typeface="Arial"/>
              </a:rPr>
              <a:t>Hebrew posting? </a:t>
            </a:r>
            <a:r>
              <a:rPr sz="4200" b="1" i="0">
                <a:solidFill>
                  <a:srgbClr val="3B5BDB"/>
                </a:solidFill>
                <a:latin typeface="Arial"/>
              </a:rPr>
              <a:t>Hebrew resume.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468880"/>
            <a:ext cx="10607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400" b="1" i="0">
                <a:solidFill>
                  <a:srgbClr val="14804A"/>
                </a:solidFill>
                <a:latin typeface="Arial"/>
              </a:rPr>
              <a:t>✓  </a:t>
            </a:r>
            <a:r>
              <a:rPr sz="2400" b="0" i="0">
                <a:solidFill>
                  <a:srgbClr val="16203A"/>
                </a:solidFill>
                <a:latin typeface="Arial"/>
              </a:rPr>
              <a:t>The </a:t>
            </a:r>
            <a:r>
              <a:rPr sz="2400" b="1" i="0">
                <a:solidFill>
                  <a:srgbClr val="16203A"/>
                </a:solidFill>
                <a:latin typeface="Arial"/>
              </a:rPr>
              <a:t>posting's language</a:t>
            </a:r>
            <a:r>
              <a:rPr sz="2400" b="0" i="0">
                <a:solidFill>
                  <a:srgbClr val="16203A"/>
                </a:solidFill>
                <a:latin typeface="Arial"/>
              </a:rPr>
              <a:t> decides the documents' language — not the profile's</a:t>
            </a:r>
          </a:p>
          <a:p>
            <a:pPr>
              <a:spcAft>
                <a:spcPts val="1600"/>
              </a:spcAft>
            </a:pPr>
            <a:r>
              <a:rPr sz="2400" b="1" i="0">
                <a:solidFill>
                  <a:srgbClr val="14804A"/>
                </a:solidFill>
                <a:latin typeface="Arial"/>
              </a:rPr>
              <a:t>✓  </a:t>
            </a:r>
            <a:r>
              <a:rPr sz="2400" b="0" i="0">
                <a:solidFill>
                  <a:srgbClr val="16203A"/>
                </a:solidFill>
                <a:latin typeface="Arial"/>
              </a:rPr>
              <a:t>Full right-to-left layout: headings, bullets, dates — </a:t>
            </a:r>
            <a:r>
              <a:rPr sz="2400" b="1" i="0">
                <a:solidFill>
                  <a:srgbClr val="16203A"/>
                </a:solidFill>
                <a:latin typeface="Arial"/>
              </a:rPr>
              <a:t>ניהלתי תקציב של 250,000 ש״ח</a:t>
            </a:r>
          </a:p>
          <a:p>
            <a:pPr>
              <a:spcAft>
                <a:spcPts val="1600"/>
              </a:spcAft>
            </a:pPr>
            <a:r>
              <a:rPr sz="2400" b="1" i="0">
                <a:solidFill>
                  <a:srgbClr val="14804A"/>
                </a:solidFill>
                <a:latin typeface="Arial"/>
              </a:rPr>
              <a:t>✓  </a:t>
            </a:r>
            <a:r>
              <a:rPr sz="2400" b="0" i="0">
                <a:solidFill>
                  <a:srgbClr val="16203A"/>
                </a:solidFill>
                <a:latin typeface="Arial"/>
              </a:rPr>
              <a:t>Hebrew quotes broke the model's JSON (ש"ח) — fixed with an automatic repair layer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14 · STATE &amp; 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6203A"/>
                </a:solidFill>
                <a:latin typeface="Arial"/>
              </a:rPr>
              <a:t>No database. </a:t>
            </a:r>
            <a:r>
              <a:rPr sz="3400" b="1" i="0">
                <a:solidFill>
                  <a:srgbClr val="3B5BDB"/>
                </a:solidFill>
                <a:latin typeface="Arial"/>
              </a:rPr>
              <a:t>State is a folder of files.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17320" y="1920240"/>
            <a:ext cx="9326880" cy="3200400"/>
          </a:xfrm>
          <a:prstGeom prst="roundRect">
            <a:avLst>
              <a:gd name="adj" fmla="val 6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201168" bIns="146304" rtlCol="0" anchor="ctr"/>
          <a:lstStyle/>
          <a:p>
            <a:pPr algn="l"/>
            <a:r>
              <a:rPr sz="1500" b="0" i="0">
                <a:solidFill>
                  <a:srgbClr val="7EA8FF"/>
                </a:solidFill>
                <a:latin typeface="Courier New"/>
              </a:rPr>
              <a:t>~/.job_agent/</a:t>
            </a:r>
          </a:p>
          <a:p>
            <a:pPr algn="l"/>
            <a:r>
              <a:rPr sz="1500" b="0" i="0">
                <a:solidFill>
                  <a:srgbClr val="E8ECF7"/>
                </a:solidFill>
                <a:latin typeface="Courier New"/>
              </a:rPr>
              <a:t>  profile.json          </a:t>
            </a:r>
            <a:r>
              <a:rPr sz="1500" b="0" i="0">
                <a:solidFill>
                  <a:srgbClr val="8FA0C7"/>
                </a:solidFill>
                <a:latin typeface="Courier New"/>
              </a:rPr>
              <a:t># your profile — the single source of truth</a:t>
            </a:r>
          </a:p>
          <a:p>
            <a:pPr algn="l"/>
            <a:r>
              <a:rPr sz="1500" b="0" i="0">
                <a:solidFill>
                  <a:srgbClr val="E8ECF7"/>
                </a:solidFill>
                <a:latin typeface="Courier New"/>
              </a:rPr>
              <a:t>  jobs_cache.json       </a:t>
            </a:r>
            <a:r>
              <a:rPr sz="1500" b="0" i="0">
                <a:solidFill>
                  <a:srgbClr val="8FA0C7"/>
                </a:solidFill>
                <a:latin typeface="Courier New"/>
              </a:rPr>
              <a:t># the last search's results</a:t>
            </a:r>
          </a:p>
          <a:p>
            <a:pPr algn="l"/>
            <a:r>
              <a:rPr sz="1500" b="0" i="0">
                <a:solidFill>
                  <a:srgbClr val="E8ECF7"/>
                </a:solidFill>
                <a:latin typeface="Courier New"/>
              </a:rPr>
              <a:t>  ranked.json           </a:t>
            </a:r>
            <a:r>
              <a:rPr sz="1500" b="0" i="0">
                <a:solidFill>
                  <a:srgbClr val="8FA0C7"/>
                </a:solidFill>
                <a:latin typeface="Courier New"/>
              </a:rPr>
              <a:t># the scored &amp; sorted list</a:t>
            </a:r>
          </a:p>
          <a:p>
            <a:pPr algn="l"/>
            <a:r>
              <a:rPr sz="1500" b="0" i="0">
                <a:solidFill>
                  <a:srgbClr val="E8ECF7"/>
                </a:solidFill>
                <a:latin typeface="Courier New"/>
              </a:rPr>
              <a:t>  seen.json             </a:t>
            </a:r>
            <a:r>
              <a:rPr sz="1500" b="0" i="0">
                <a:solidFill>
                  <a:srgbClr val="8FA0C7"/>
                </a:solidFill>
                <a:latin typeface="Courier New"/>
              </a:rPr>
              <a:t># every job ever seen + its status</a:t>
            </a:r>
          </a:p>
          <a:p>
            <a:pPr algn="l"/>
            <a:r>
              <a:rPr sz="1500" b="0" i="0">
                <a:solidFill>
                  <a:srgbClr val="E8ECF7"/>
                </a:solidFill>
                <a:latin typeface="Courier New"/>
              </a:rPr>
              <a:t>  companies_cache.json  </a:t>
            </a:r>
            <a:r>
              <a:rPr sz="1500" b="0" i="0">
                <a:solidFill>
                  <a:srgbClr val="8FA0C7"/>
                </a:solidFill>
                <a:latin typeface="Courier New"/>
              </a:rPr>
              <a:t># AI-discovered employers (30-day TTL)</a:t>
            </a:r>
          </a:p>
          <a:p>
            <a:pPr algn="l"/>
            <a:r>
              <a:rPr sz="1500" b="0" i="0">
                <a:solidFill>
                  <a:srgbClr val="E8ECF7"/>
                </a:solidFill>
                <a:latin typeface="Courier New"/>
              </a:rPr>
              <a:t>  applications/</a:t>
            </a:r>
          </a:p>
          <a:p>
            <a:pPr algn="l"/>
            <a:r>
              <a:rPr sz="1500" b="0" i="0">
                <a:solidFill>
                  <a:srgbClr val="E8ECF7"/>
                </a:solidFill>
                <a:latin typeface="Courier New"/>
              </a:rPr>
              <a:t>    acme__backend-dev/  </a:t>
            </a:r>
            <a:r>
              <a:rPr sz="1500" b="0" i="0">
                <a:solidFill>
                  <a:srgbClr val="8FA0C7"/>
                </a:solidFill>
                <a:latin typeface="Courier New"/>
              </a:rPr>
              <a:t># resume.md · resume.pdf · cover_letter.md</a:t>
            </a:r>
          </a:p>
          <a:p>
            <a:pPr algn="l"/>
            <a:r>
              <a:rPr sz="1500" b="0" i="0">
                <a:solidFill>
                  <a:srgbClr val="E8ECF7"/>
                </a:solidFill>
                <a:latin typeface="Courier New"/>
              </a:rPr>
              <a:t>                        </a:t>
            </a:r>
            <a:r>
              <a:rPr sz="1500" b="0" i="0">
                <a:solidFill>
                  <a:srgbClr val="8FA0C7"/>
                </a:solidFill>
                <a:latin typeface="Courier New"/>
              </a:rPr>
              <a:t># answers.json · job.md</a:t>
            </a:r>
          </a:p>
          <a:p>
            <a:pPr algn="l"/>
            <a:r>
              <a:rPr sz="1500" b="0" i="0">
                <a:solidFill>
                  <a:srgbClr val="E8ECF7"/>
                </a:solidFill>
                <a:latin typeface="Courier New"/>
              </a:rPr>
              <a:t>  browser/              </a:t>
            </a:r>
            <a:r>
              <a:rPr sz="1500" b="0" i="0">
                <a:solidFill>
                  <a:srgbClr val="8FA0C7"/>
                </a:solidFill>
                <a:latin typeface="Courier New"/>
              </a:rPr>
              <a:t># the persistent Chrome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4924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 i="0">
                <a:solidFill>
                  <a:srgbClr val="14804A"/>
                </a:solidFill>
                <a:latin typeface="Arial"/>
              </a:rPr>
              <a:t>✓  </a:t>
            </a:r>
            <a:r>
              <a:rPr sz="1900" b="0" i="0">
                <a:solidFill>
                  <a:srgbClr val="16203A"/>
                </a:solidFill>
                <a:latin typeface="Arial"/>
              </a:rPr>
              <a:t>Each stage writes files, the next reads them — </a:t>
            </a:r>
            <a:r>
              <a:rPr sz="1900" b="1" i="0">
                <a:solidFill>
                  <a:srgbClr val="16203A"/>
                </a:solidFill>
                <a:latin typeface="Arial"/>
              </a:rPr>
              <a:t>files are the interface between stages</a:t>
            </a:r>
          </a:p>
          <a:p>
            <a:pPr>
              <a:spcAft>
                <a:spcPts val="800"/>
              </a:spcAft>
            </a:pPr>
            <a:r>
              <a:rPr sz="1900" b="1" i="0">
                <a:solidFill>
                  <a:srgbClr val="14804A"/>
                </a:solidFill>
                <a:latin typeface="Arial"/>
              </a:rPr>
              <a:t>✓  </a:t>
            </a:r>
            <a:r>
              <a:rPr sz="1900" b="0" i="0">
                <a:solidFill>
                  <a:srgbClr val="16203A"/>
                </a:solidFill>
                <a:latin typeface="Arial"/>
              </a:rPr>
              <a:t>Hosted mode swaps this folder for the visitor's own browser storage — the server stays stateless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15 · RUNS ANYWHERE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6203A"/>
                </a:solidFill>
                <a:latin typeface="Arial"/>
              </a:rPr>
              <a:t>Desktop app </a:t>
            </a:r>
            <a:r>
              <a:rPr sz="4200" b="1" i="0">
                <a:solidFill>
                  <a:srgbClr val="3B5BDB"/>
                </a:solidFill>
                <a:latin typeface="Arial"/>
              </a:rPr>
              <a:t>and</a:t>
            </a:r>
            <a:r>
              <a:rPr sz="4200" b="1" i="0">
                <a:solidFill>
                  <a:srgbClr val="16203A"/>
                </a:solidFill>
                <a:latin typeface="Arial"/>
              </a:rPr>
              <a:t> a website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194560"/>
            <a:ext cx="5212080" cy="237744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2000" b="1" i="0">
                <a:solidFill>
                  <a:srgbClr val="16203A"/>
                </a:solidFill>
                <a:latin typeface="Arial"/>
              </a:rPr>
              <a:t>Desktop (double-click)</a:t>
            </a:r>
          </a:p>
          <a:p>
            <a:pPr algn="ctr"/>
            <a:r>
              <a:rPr sz="1500" b="0" i="0">
                <a:solidFill>
                  <a:srgbClr val="5A6478"/>
                </a:solidFill>
                <a:latin typeface="Arial"/>
              </a:rPr>
              <a:t>full powers: form autofill · background auto-search · auto-prepared applications · PDF files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2194560"/>
            <a:ext cx="5212080" cy="2377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54864" rtlCol="0" anchor="ctr"/>
          <a:lstStyle/>
          <a:p>
            <a:pPr algn="ctr"/>
            <a:r>
              <a:rPr sz="2000" b="1" i="0">
                <a:solidFill>
                  <a:srgbClr val="16203A"/>
                </a:solidFill>
                <a:latin typeface="Arial"/>
              </a:rPr>
              <a:t>Vercel (hosted)</a:t>
            </a:r>
          </a:p>
          <a:p>
            <a:pPr algn="ctr"/>
            <a:r>
              <a:rPr sz="1500" b="0" i="0">
                <a:solidFill>
                  <a:srgbClr val="5A6478"/>
                </a:solidFill>
                <a:latin typeface="Arial"/>
              </a:rPr>
              <a:t>stateless server — your profile, key, history and applications live in your own browser; nothing stored server-side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9377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16203A"/>
                </a:solidFill>
                <a:latin typeface="Arial"/>
              </a:rPr>
              <a:t>Same code, one flag. The app hides what each home can't do — with an explanation.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16 · BY THE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6203A"/>
                </a:solidFill>
                <a:latin typeface="Arial"/>
              </a:rPr>
              <a:t>Small system, </a:t>
            </a:r>
            <a:r>
              <a:rPr sz="4200" b="1" i="0">
                <a:solidFill>
                  <a:srgbClr val="3B5BDB"/>
                </a:solidFill>
                <a:latin typeface="Arial"/>
              </a:rPr>
              <a:t>real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103120"/>
            <a:ext cx="3520440" cy="1691640"/>
          </a:xfrm>
          <a:prstGeom prst="roundRect">
            <a:avLst>
              <a:gd name="adj" fmla="val 10000"/>
            </a:avLst>
          </a:prstGeom>
          <a:solidFill>
            <a:srgbClr val="EE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4000" b="1" i="0">
                <a:solidFill>
                  <a:srgbClr val="3B5BDB"/>
                </a:solidFill>
                <a:latin typeface="Arial"/>
              </a:rPr>
              <a:t>10</a:t>
            </a:r>
          </a:p>
          <a:p>
            <a:pPr algn="ctr"/>
            <a:r>
              <a:rPr sz="1400" b="0" i="0">
                <a:solidFill>
                  <a:srgbClr val="16203A"/>
                </a:solidFill>
                <a:latin typeface="Arial"/>
              </a:rPr>
              <a:t>job sources searched in one pass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2103120"/>
            <a:ext cx="3520440" cy="1691640"/>
          </a:xfrm>
          <a:prstGeom prst="roundRect">
            <a:avLst>
              <a:gd name="adj" fmla="val 10000"/>
            </a:avLst>
          </a:prstGeom>
          <a:solidFill>
            <a:srgbClr val="EE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4000" b="1" i="0">
                <a:solidFill>
                  <a:srgbClr val="3B5BDB"/>
                </a:solidFill>
                <a:latin typeface="Arial"/>
              </a:rPr>
              <a:t>109</a:t>
            </a:r>
          </a:p>
          <a:p>
            <a:pPr algn="ctr"/>
            <a:r>
              <a:rPr sz="1400" b="0" i="0">
                <a:solidFill>
                  <a:srgbClr val="16203A"/>
                </a:solidFill>
                <a:latin typeface="Arial"/>
              </a:rPr>
              <a:t>verified company boards · 9 countries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80" y="2103120"/>
            <a:ext cx="3520440" cy="1691640"/>
          </a:xfrm>
          <a:prstGeom prst="roundRect">
            <a:avLst>
              <a:gd name="adj" fmla="val 10000"/>
            </a:avLst>
          </a:prstGeom>
          <a:solidFill>
            <a:srgbClr val="EE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4000" b="1" i="0">
                <a:solidFill>
                  <a:srgbClr val="3B5BDB"/>
                </a:solidFill>
                <a:latin typeface="Arial"/>
              </a:rPr>
              <a:t>~15s</a:t>
            </a:r>
          </a:p>
          <a:p>
            <a:pPr algn="ctr"/>
            <a:r>
              <a:rPr sz="1400" b="0" i="0">
                <a:solidFill>
                  <a:srgbClr val="16203A"/>
                </a:solidFill>
                <a:latin typeface="Arial"/>
              </a:rPr>
              <a:t>per tailored application (2 in parallel)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069080"/>
            <a:ext cx="3520440" cy="1691640"/>
          </a:xfrm>
          <a:prstGeom prst="roundRect">
            <a:avLst>
              <a:gd name="adj" fmla="val 10000"/>
            </a:avLst>
          </a:prstGeom>
          <a:solidFill>
            <a:srgbClr val="EE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4000" b="1" i="0">
                <a:solidFill>
                  <a:srgbClr val="3B5BDB"/>
                </a:solidFill>
                <a:latin typeface="Arial"/>
              </a:rPr>
              <a:t>5</a:t>
            </a:r>
          </a:p>
          <a:p>
            <a:pPr algn="ctr"/>
            <a:r>
              <a:rPr sz="1400" b="0" i="0">
                <a:solidFill>
                  <a:srgbClr val="16203A"/>
                </a:solidFill>
                <a:latin typeface="Arial"/>
              </a:rPr>
              <a:t>AI calls per application — incl. fact-check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4069080"/>
            <a:ext cx="3520440" cy="1691640"/>
          </a:xfrm>
          <a:prstGeom prst="roundRect">
            <a:avLst>
              <a:gd name="adj" fmla="val 10000"/>
            </a:avLst>
          </a:prstGeom>
          <a:solidFill>
            <a:srgbClr val="EE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4000" b="1" i="0">
                <a:solidFill>
                  <a:srgbClr val="3B5BDB"/>
                </a:solidFill>
                <a:latin typeface="Arial"/>
              </a:rPr>
              <a:t>21×2</a:t>
            </a:r>
          </a:p>
          <a:p>
            <a:pPr algn="ctr"/>
            <a:r>
              <a:rPr sz="1400" b="0" i="0">
                <a:solidFill>
                  <a:srgbClr val="16203A"/>
                </a:solidFill>
                <a:latin typeface="Arial"/>
              </a:rPr>
              <a:t>automated end-to-end checks, desktop + hosted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4069080"/>
            <a:ext cx="3520440" cy="1691640"/>
          </a:xfrm>
          <a:prstGeom prst="roundRect">
            <a:avLst>
              <a:gd name="adj" fmla="val 10000"/>
            </a:avLst>
          </a:prstGeom>
          <a:solidFill>
            <a:srgbClr val="EE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4000" b="1" i="0">
                <a:solidFill>
                  <a:srgbClr val="3B5BDB"/>
                </a:solidFill>
                <a:latin typeface="Arial"/>
              </a:rPr>
              <a:t>0</a:t>
            </a:r>
          </a:p>
          <a:p>
            <a:pPr algn="ctr"/>
            <a:r>
              <a:rPr sz="1400" b="0" i="0">
                <a:solidFill>
                  <a:srgbClr val="16203A"/>
                </a:solidFill>
                <a:latin typeface="Arial"/>
              </a:rPr>
              <a:t>frameworks: Flask + vanilla JS + Playwright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14630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THANKS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011680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0" b="1" i="0">
                <a:solidFill>
                  <a:srgbClr val="16203A"/>
                </a:solidFill>
                <a:latin typeface="Arial"/>
              </a:rPr>
              <a:t>Questions</a:t>
            </a:r>
            <a:r>
              <a:rPr sz="8000" b="1" i="0">
                <a:solidFill>
                  <a:srgbClr val="3B5BDB"/>
                </a:solidFill>
                <a:latin typeface="Arial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931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i="0">
                <a:solidFill>
                  <a:srgbClr val="16203A"/>
                </a:solidFill>
                <a:latin typeface="Arial"/>
              </a:rPr>
              <a:t>github.com/DavidZeff1/agent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7548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5A6478"/>
                </a:solidFill>
                <a:latin typeface="Arial"/>
              </a:rPr>
              <a:t>Python · Flask · Groq (llama-3.3-70b) · Playwright · your own Chrome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4743</Words>
  <Application>Microsoft Macintosh PowerPoint</Application>
  <PresentationFormat>Widescreen</PresentationFormat>
  <Paragraphs>426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David zeff</cp:lastModifiedBy>
  <cp:revision>2</cp:revision>
  <dcterms:created xsi:type="dcterms:W3CDTF">2013-01-27T09:14:16Z</dcterms:created>
  <dcterms:modified xsi:type="dcterms:W3CDTF">2026-07-05T16:08:57Z</dcterms:modified>
  <cp:category/>
</cp:coreProperties>
</file>